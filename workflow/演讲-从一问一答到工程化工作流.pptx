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zh-CN"/>
    </a:defPPr>
    <a:lvl1pPr marL="0" algn="l" rtl="0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0" useTimings="0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0" y="0"/>
      </p:cViewPr>
      <p:guideLst/>
    </p:cSldViewPr>
  </p:slideViewPr>
  <p:notesTextViewPr>
    <p:cViewPr varScale="1">
      <p:scale>
        <a:sx n="100" d="100"/>
        <a:sy n="100" d="100"/>
      </p:scale>
      <p:origin x="0" y="0"/>
    </p:cViewPr>
  </p:notesTextViewPr>
  <p:sorterViewPr>
    <p:cViewPr varScale="1"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>
      <a:defRPr sz="1200">
        <a:solidFill>
          <a:schemeClr val="tx1"/>
        </a:solidFill>
        <a:latin typeface="+mn-lt"/>
        <a:ea typeface="+mn-ea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今天不讲某个模型多强，也不讲提示词技巧。讲一件更朴素的事：同样一个 AI，用两种方式使唤它，产出的可靠性差了一个数量级。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先给大纲，四段。</a:t>
            </a:r>
          </a:p>
          <a:p>
            <a:r>
              <a:rPr lang="zh-CN" altLang="en-US" sz="1200" dirty="0"/>
              <a:t xml:space="preserve">第一段讲问题：一问一答有五个结构性缺陷，注意是结构性的，不是模型不够聪明。</a:t>
            </a:r>
          </a:p>
          <a:p>
            <a:r>
              <a:rPr lang="zh-CN" altLang="en-US" sz="1200" dirty="0"/>
              <a:t xml:space="preserve">第二段讲机制：我这套工作流用五个东西逐条去治，会一一对应回去。</a:t>
            </a:r>
          </a:p>
          <a:p>
            <a:r>
              <a:rPr lang="zh-CN" altLang="en-US" sz="1200" dirty="0"/>
              <a:t xml:space="preserve">第三段讲对照：七个维度逐条对比，说明为什么更好。</a:t>
            </a:r>
          </a:p>
          <a:p>
            <a:r>
              <a:rPr lang="zh-CN" altLang="en-US" sz="1200" dirty="0"/>
              <a:t xml:space="preserve">第四段讲边界：它拦不住什么、什么时候不该用，以及明天可以先做哪一件事。</a:t>
            </a:r>
          </a:p>
          <a:p>
            <a:r>
              <a:rPr lang="zh-CN" altLang="en-US" sz="1200" dirty="0"/>
              <a:t xml:space="preserve">全场就一条主线 —— AI 的能力不是瓶颈，有没有人问才是。后面所有内容都挂在这句话上。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【停顿，让大家看完】</a:t>
            </a:r>
          </a:p>
          <a:p>
            <a:r>
              <a:rPr lang="zh-CN" altLang="en-US" sz="1200" dirty="0"/>
              <a:t xml:space="preserve">这个流程哪里错了？一个字都没错。AI 没写错代码，你 review 得也认真。</a:t>
            </a:r>
          </a:p>
          <a:p>
            <a:r>
              <a:rPr lang="zh-CN" altLang="en-US" sz="1200" dirty="0"/>
              <a:t xml:space="preserve">问题在于：从头到尾，没有人问过「量级多大」，也没有人问过「会不会重复消费」。</a:t>
            </a:r>
          </a:p>
          <a:p>
            <a:r>
              <a:rPr lang="zh-CN" altLang="en-US" sz="1200" dirty="0"/>
              <a:t xml:space="preserve">AI 不会主动问。它把你给的那句话，尽职尽责地实现了。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这是我今天想说的第一句核心的话。</a:t>
            </a:r>
          </a:p>
          <a:p>
            <a:r>
              <a:rPr lang="zh-CN" altLang="en-US" sz="1200" dirty="0"/>
              <a:t xml:space="preserve">一问一答的模式里，AI 的能力上限根本不是瓶颈。瓶颈是：你有没有想到该问它这个问题。</a:t>
            </a:r>
          </a:p>
          <a:p>
            <a:r>
              <a:rPr lang="zh-CN" altLang="en-US" sz="1200" dirty="0"/>
              <a:t xml:space="preserve">你记得问性能，它就分析性能。你那天赶工期，忘了问并发，它就一个字都不提。</a:t>
            </a:r>
          </a:p>
          <a:p>
            <a:r>
              <a:rPr lang="zh-CN" altLang="en-US" sz="1200" dirty="0"/>
              <a:t xml:space="preserve">而且这是最要命的地方 —— 你不会知道你漏问了什么。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我们工程上所有的质量手段，本质都是把静默失败变成显式信号。编译器、类型系统、单测、CI、静态扫描 —— 全都是。</a:t>
            </a:r>
          </a:p>
          <a:p>
            <a:r>
              <a:rPr lang="zh-CN" altLang="en-US" sz="1200" dirty="0"/>
              <a:t xml:space="preserve">唯独「用 AI 做研发」这件事，目前绝大多数人还停留在没有任何信号的状态。</a:t>
            </a:r>
          </a:p>
          <a:p>
            <a:r>
              <a:rPr lang="zh-CN" altLang="en-US" sz="1200" dirty="0"/>
              <a:t xml:space="preserve">我做这套工作流，核心目的就一个：给 AI 研发过程装上红灯。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我把一问一答的问题归成五条。</a:t>
            </a:r>
          </a:p>
          <a:p>
            <a:r>
              <a:rPr lang="zh-CN" altLang="en-US" sz="1200" dirty="0"/>
              <a:t xml:space="preserve">注意，这五条都不是「AI 不够聪明」，换个更强的模型一条都解决不了。这是流程结构的问题。</a:t>
            </a:r>
          </a:p>
          <a:p>
            <a:r>
              <a:rPr lang="zh-CN" altLang="en-US" sz="1200" dirty="0"/>
              <a:t xml:space="preserve">【下面五页逐条展开，每页 30–40 秒，不要恋战】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一次设计要考虑的维度是固定的那么多。一问一答里，这些维度全靠人临场回忆。</a:t>
            </a:r>
          </a:p>
          <a:p>
            <a:r>
              <a:rPr lang="zh-CN" altLang="en-US" sz="1200" dirty="0"/>
              <a:t xml:space="preserve">人的记性是会波动的。周一上午和周五下午，你能想起来的东西不一样。</a:t>
            </a:r>
          </a:p>
          <a:p>
            <a:r>
              <a:rPr lang="zh-CN" altLang="en-US" sz="1200" dirty="0"/>
              <a:t xml:space="preserve">工作流的第一个作用，就是把「该问的问题」从人的记性里搬出来，变成文件。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这条我觉得是最被低估的。</a:t>
            </a:r>
          </a:p>
          <a:p>
            <a:r>
              <a:rPr lang="zh-CN" altLang="en-US" sz="1200" dirty="0"/>
              <a:t xml:space="preserve">你和 AI 聊了两个小时，聊出一个很好的方案，中间否掉了三个候选。这些「为什么不选 A」的信息，价值不亚于「为什么选 B」。</a:t>
            </a:r>
          </a:p>
          <a:p>
            <a:r>
              <a:rPr lang="zh-CN" altLang="en-US" sz="1200" dirty="0"/>
              <a:t xml:space="preserve">会话一关，全没了。</a:t>
            </a:r>
          </a:p>
          <a:p>
            <a:r>
              <a:rPr lang="zh-CN" altLang="en-US" sz="1200" dirty="0"/>
              <a:t xml:space="preserve">三个月后另一个人接手，或者你自己开一个新会话，AI 会兴致勃勃地把方案 A 重新推荐给你一遍。</a:t>
            </a:r>
          </a:p>
          <a:p>
            <a:r>
              <a:rPr lang="zh-CN" altLang="en-US" sz="1200" dirty="0"/>
              <a:t xml:space="preserve">【可以自嘲一句：我被这个坑过不止一次】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一问一答天然没有阶段感。你说「写个接口」，它下一秒就在写代码了。</a:t>
            </a:r>
          </a:p>
          <a:p>
            <a:r>
              <a:rPr lang="zh-CN" altLang="en-US" sz="1200" dirty="0"/>
              <a:t xml:space="preserve">这在人的团队里是不可想象的 —— 需求评审没过就开工，PM 会找你。但 AI 不会拒绝你。</a:t>
            </a:r>
          </a:p>
          <a:p>
            <a:r>
              <a:rPr lang="zh-CN" altLang="en-US" sz="1200" dirty="0"/>
              <a:t xml:space="preserve">右边这两句话，是我整套流程的第一原则，写在流程文档最前面。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这条对团队来说是硬伤。</a:t>
            </a:r>
          </a:p>
          <a:p>
            <a:r>
              <a:rPr lang="zh-CN" altLang="en-US" sz="1200" dirty="0"/>
              <a:t xml:space="preserve">我们对人写的代码有 PR、有 review 记录、有 commit message。对 AI 参与的设计决策，目前是一片空白。</a:t>
            </a:r>
          </a:p>
          <a:p>
            <a:r>
              <a:rPr lang="zh-CN" altLang="en-US" sz="1200" dirty="0"/>
              <a:t xml:space="preserve">出事之后做复盘，你连「当初考虑过没有」都答不上来。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这条决定了这件事能不能规模化。</a:t>
            </a:r>
          </a:p>
          <a:p>
            <a:r>
              <a:rPr lang="zh-CN" altLang="en-US" sz="1200" dirty="0"/>
              <a:t xml:space="preserve">团队里总有几个人特别会用 AI。但他们的能力封装在脑子里，写不进 wiki，也带不走。</a:t>
            </a:r>
          </a:p>
          <a:p>
            <a:r>
              <a:rPr lang="zh-CN" altLang="en-US" sz="1200" dirty="0"/>
              <a:t xml:space="preserve">新人拿到同一个模型，产出的东西完全是另一个水平。</a:t>
            </a:r>
          </a:p>
          <a:p>
            <a:r>
              <a:rPr lang="zh-CN" altLang="en-US" sz="1200" dirty="0"/>
              <a:t xml:space="preserve">【停顿】这五条加起来指向同一个结论：需要把研发流程本身，做成资产。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这是全景。看着复杂，其实只有一条主线：先把话说清楚，再评审，人签字，然后才写代码，写完再核。</a:t>
            </a:r>
          </a:p>
          <a:p>
            <a:r>
              <a:rPr lang="zh-CN" altLang="en-US" sz="1200" dirty="0"/>
              <a:t xml:space="preserve">上面一行完全不写代码，下面一行才动手 —— 中间隔着人工签字这道硬门禁。</a:t>
            </a:r>
          </a:p>
          <a:p>
            <a:r>
              <a:rPr lang="zh-CN" altLang="en-US" sz="1200" dirty="0"/>
              <a:t xml:space="preserve">我下面逐个讲关键机制，每一个机制都是在治前面那五条缺陷中的某一条。</a:t>
            </a:r>
          </a:p>
          <a:p>
            <a:r>
              <a:rPr lang="zh-CN" altLang="en-US" sz="1200" dirty="0"/>
              <a:t xml:space="preserve">【给 20 秒扫一眼，不要逐个念图】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我先讲这一页，是因为这是整套流程能不能活下来的关键。</a:t>
            </a:r>
          </a:p>
          <a:p>
            <a:r>
              <a:rPr lang="zh-CN" altLang="en-US" sz="1200" dirty="0"/>
              <a:t xml:space="preserve">如果改个错别字也要跑五个 Agent 评审，团队三天就把整套流程扔了。所以第一件事是分级 —— 大部分日常改动是 L0 和 L1。</a:t>
            </a:r>
          </a:p>
          <a:p>
            <a:r>
              <a:rPr lang="zh-CN" altLang="en-US" sz="1200" dirty="0"/>
              <a:t xml:space="preserve">右边是实测耗时量级。注意这是并行跑的，墙钟接近「最慢的那个」而不是累加 —— 这是一问一答做不到的，串行对话一次只有一个视角。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回到开场那个例子 —— 批量导入超时、重复消费。</a:t>
            </a:r>
          </a:p>
          <a:p>
            <a:r>
              <a:rPr lang="zh-CN" altLang="en-US" sz="1200" dirty="0"/>
              <a:t xml:space="preserve">在这套流程里，你不需要想起来问并发。你只要判定它是 L3，并发 Agent 就一定会跑，一定会问「重复消费怎么办」。</a:t>
            </a:r>
          </a:p>
          <a:p>
            <a:r>
              <a:rPr lang="zh-CN" altLang="en-US" sz="1200" dirty="0"/>
              <a:t xml:space="preserve">【这是全场最重要的一句】从「我记得问」变成「系统一定会问」。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这条治两个病。</a:t>
            </a:r>
          </a:p>
          <a:p>
            <a:r>
              <a:rPr lang="zh-CN" altLang="en-US" sz="1200" dirty="0"/>
              <a:t xml:space="preserve">第一个病：AI 评审爱堆术语，没参与设计的人看不懂自己在签什么。所以强制三列白话。</a:t>
            </a:r>
          </a:p>
          <a:p>
            <a:r>
              <a:rPr lang="zh-CN" altLang="en-US" sz="1200" dirty="0"/>
              <a:t xml:space="preserve">第二个病更实际：AI 会误报。如果误报能随便标 Blocker，门禁三天就把人卡烦了，团队就会开始绕过它。</a:t>
            </a:r>
          </a:p>
          <a:p>
            <a:r>
              <a:rPr lang="zh-CN" altLang="en-US" sz="1200" dirty="0"/>
              <a:t xml:space="preserve">所以那条铁律 —— 说不出具体触发场景的自动降级。一条规则同时治两个病。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上半页：「有条件通过」是最容易失效的一环。条件写完没人管，等于没写。所以强制映射到任务项，Phase 6 逐条核对。</a:t>
            </a:r>
          </a:p>
          <a:p>
            <a:r>
              <a:rPr lang="zh-CN" altLang="en-US" sz="1200" dirty="0"/>
              <a:t xml:space="preserve">下半页解决一个很有意思的技术问题 —— 第二轮评审的 Agent 是全新上下文。</a:t>
            </a:r>
          </a:p>
          <a:p>
            <a:r>
              <a:rPr lang="zh-CN" altLang="en-US" sz="1200" dirty="0"/>
              <a:t xml:space="preserve">它不知道 ARCH-01 上轮提过、这轮已经改了。没有留痕，它要么重新发现同一个问题，要么完全漏掉验证。</a:t>
            </a:r>
          </a:p>
          <a:p>
            <a:r>
              <a:rPr lang="zh-CN" altLang="en-US" sz="1200" dirty="0"/>
              <a:t xml:space="preserve">所以闭环记录不只是给人看的，它是给下一轮 AI 的输入。这就是用文件对抗上下文易失。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【这页放慢】这可能是整套流程里最重要的一页，也是团队推行时第一个会吵起来的地方。</a:t>
            </a:r>
          </a:p>
          <a:p>
            <a:r>
              <a:rPr lang="zh-CN" altLang="en-US" sz="1200" dirty="0"/>
              <a:t xml:space="preserve">签字不是背书 AI，是承担责任。签字的含义不是「我认可 AI 的结论」，而是「我为这个方案进入实现负责」。</a:t>
            </a:r>
          </a:p>
          <a:p>
            <a:r>
              <a:rPr lang="zh-CN" altLang="en-US" sz="1200" dirty="0"/>
              <a:t xml:space="preserve">规矩定得很细：L0/L1 允许作者自签；L2/L3 不建议自签 —— 自己设计自己批准，门禁就退化成形式了。</a:t>
            </a:r>
          </a:p>
          <a:p>
            <a:r>
              <a:rPr lang="zh-CN" altLang="en-US" sz="1200" dirty="0"/>
              <a:t xml:space="preserve">签字前至少要做四件事：读完 summary 全文、逐条确认 Blocker 闭环、确认条件都进了 tasks、对驳回项独立判断而不是照单全收。</a:t>
            </a:r>
          </a:p>
          <a:p>
            <a:r>
              <a:rPr lang="zh-CN" altLang="en-US" sz="1200" dirty="0"/>
              <a:t xml:space="preserve">如果团队普遍出现盲签，该调整的是分级规则，而不是继续走过场。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这张表是今天的核心。我不逐行念，只挑三行讲。</a:t>
            </a:r>
          </a:p>
          <a:p>
            <a:r>
              <a:rPr lang="zh-CN" altLang="en-US" sz="1200" dirty="0"/>
              <a:t xml:space="preserve">共识载体：一边是会话上下文，一边是文件 —— 这是可靠性的分水岭。</a:t>
            </a:r>
          </a:p>
          <a:p>
            <a:r>
              <a:rPr lang="zh-CN" altLang="en-US" sz="1200" dirty="0"/>
              <a:t xml:space="preserve">可审计：一边什么都没有，一边签字、驳回、risk accepted、弃案全留痕。</a:t>
            </a:r>
          </a:p>
          <a:p>
            <a:r>
              <a:rPr lang="zh-CN" altLang="en-US" sz="1200" dirty="0"/>
              <a:t xml:space="preserve">失败模式：一边是静默的、三个月后才暴露，一边是当场亮红灯。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这是全场第二句核心的话。</a:t>
            </a:r>
          </a:p>
          <a:p>
            <a:r>
              <a:rPr lang="zh-CN" altLang="en-US" sz="1200" dirty="0"/>
              <a:t xml:space="preserve">两者不是「同一件事做得好一点」的关系，是两个不同的目标函数。</a:t>
            </a:r>
          </a:p>
          <a:p>
            <a:r>
              <a:rPr lang="zh-CN" altLang="en-US" sz="1200" dirty="0"/>
              <a:t xml:space="preserve">一问一答做到极致，你得到一段很好的代码。工作流做到极致，你得到一条半年后还能回答「当初为什么这么定」的决策链。</a:t>
            </a:r>
          </a:p>
          <a:p>
            <a:r>
              <a:rPr lang="zh-CN" altLang="en-US" sz="1200" dirty="0"/>
              <a:t xml:space="preserve">而且随着模型越来越强，第一个目标会越来越不值钱 —— 因为它会自动变好。第二个目标不会自动变好，它只能靠流程。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最后一条好处是战略性的。</a:t>
            </a:r>
          </a:p>
          <a:p>
            <a:r>
              <a:rPr lang="zh-CN" altLang="en-US" sz="1200" dirty="0"/>
              <a:t xml:space="preserve">这套东西不绑定任何一家。流程沉淀在 Markdown 里，不在某个厂商的产品里。</a:t>
            </a:r>
          </a:p>
          <a:p>
            <a:r>
              <a:rPr lang="zh-CN" altLang="en-US" sz="1200" dirty="0"/>
              <a:t xml:space="preserve">明年主力模型换一家，我的评审清单、建模方法、门禁规则，一行都不用改。</a:t>
            </a:r>
          </a:p>
          <a:p>
            <a:r>
              <a:rPr lang="zh-CN" altLang="en-US" sz="1200" dirty="0"/>
              <a:t xml:space="preserve">能力会被模型迭代掉，流程不会。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【这页一定要讲，不能跳】</a:t>
            </a:r>
          </a:p>
          <a:p>
            <a:r>
              <a:rPr lang="zh-CN" altLang="en-US" sz="1200" dirty="0"/>
              <a:t xml:space="preserve">我特意把局限性写进流程文档，也放进今天的分享。</a:t>
            </a:r>
          </a:p>
          <a:p>
            <a:r>
              <a:rPr lang="zh-CN" altLang="en-US" sz="1200" dirty="0"/>
              <a:t xml:space="preserve">别把这套门禁理解成「代码不可能未经评审进主干」的技术保证。它做不到，我也没打算让它做到。</a:t>
            </a:r>
          </a:p>
          <a:p>
            <a:r>
              <a:rPr lang="zh-CN" altLang="en-US" sz="1200" dirty="0"/>
              <a:t xml:space="preserve">它的价值是：让「评审」在正常路径上成为默认动作，而不是可选动作。</a:t>
            </a:r>
          </a:p>
          <a:p>
            <a:r>
              <a:rPr lang="zh-CN" altLang="en-US" sz="1200" dirty="0"/>
              <a:t xml:space="preserve">还有一个坑必须提醒：hook 必须在 settings.json 注册后才生效，而且如果注册路径指向了旧版副本，它会静默放行 —— 那比不装还危险，因为你以为有门禁。文档里有验证命令。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坦白讲，大部分时候我也是一问一答的。</a:t>
            </a:r>
          </a:p>
          <a:p>
            <a:r>
              <a:rPr lang="zh-CN" altLang="en-US" sz="1200" dirty="0"/>
              <a:t xml:space="preserve">工作流不是用来取代对话的，是用来在高风险变更上加一道结构。</a:t>
            </a:r>
          </a:p>
          <a:p>
            <a:r>
              <a:rPr lang="zh-CN" altLang="en-US" sz="1200" dirty="0"/>
              <a:t xml:space="preserve">判断标准很简单：这个改动出事的代价，值不值得多花 5 分钟。</a:t>
            </a:r>
          </a:p>
          <a:p>
            <a:r>
              <a:rPr lang="zh-CN" altLang="en-US" sz="1200" dirty="0"/>
              <a:t xml:space="preserve">L0 改文案，不值得。L3 上 MQ 异步消费，太值得了。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落地分两档，不要一上来就上全套。</a:t>
            </a:r>
          </a:p>
          <a:p>
            <a:r>
              <a:rPr lang="zh-CN" altLang="en-US" sz="1200" dirty="0"/>
              <a:t xml:space="preserve">简易版就是 OpenSpec 的基础闭环：explore 把需求聊清楚，propose 写方案和任务清单，update 在需求或方案变了的时候回改提案，apply 按清单实现，archive 归档。装一个 skill 包就能跑，不需要团队达成任何共识，今天下午就能做。它解决的是最要命的那一条 —— 需求和方案落成文件，AI 不再猜。</a:t>
            </a:r>
          </a:p>
          <a:p>
            <a:r>
              <a:rPr lang="zh-CN" altLang="en-US" sz="1200" dirty="0"/>
              <a:t xml:space="preserve">第 3 步 update 我要特别说一句：真实项目里需求一定会变，方案也一定会被推翻。这时候最容易犯的错是直接去改代码，让文件和实现对不上 —— 那等于又退回一问一答了。规矩是：先 update 改提案，再让 AI 按新提案继续。文件必须始终是唯一事实源。</a:t>
            </a:r>
          </a:p>
          <a:p>
            <a:r>
              <a:rPr lang="zh-CN" altLang="en-US" sz="1200" dirty="0"/>
              <a:t xml:space="preserve">完整版是在这之上追加三步：overview 做分级，review 跑五维度门禁加人工签字，quality 和 verify 做质量检测与验收。这一档才需要团队约定分级规则和签字责任 —— 所以它是第二步，不是第一步。</a:t>
            </a:r>
          </a:p>
          <a:p>
            <a:r>
              <a:rPr lang="zh-CN" altLang="en-US" sz="1200" dirty="0"/>
              <a:t xml:space="preserve">补一句：在完整版里 update 之后不是接着 apply，而是按牵连关系重走对应的评审维度，并把这一轮的闭环记录留在文档里 —— 就是前面全景图上那条回退箭头。</a:t>
            </a:r>
          </a:p>
          <a:p>
            <a:r>
              <a:rPr lang="zh-CN" altLang="en-US" sz="1200" dirty="0"/>
              <a:t xml:space="preserve">如果今天只带走一件事，我希望是左边那一档。右边那些门禁，都是在它之上长出来的。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/>
              <a:t xml:space="preserve">谢谢大家。</a:t>
            </a:r>
          </a:p>
          <a:p>
            <a:r>
              <a:rPr lang="zh-CN" altLang="en-US" sz="1200" dirty="0"/>
              <a:t xml:space="preserve">【停顿，然后进 Q&amp;A】</a:t>
            </a:r>
          </a:p>
          <a:p>
            <a:r>
              <a:rPr lang="zh-CN" altLang="en-US" sz="1200" dirty="0"/>
              <a:t xml:space="preserve"/>
            </a:r>
          </a:p>
          <a:p>
            <a:r>
              <a:rPr lang="zh-CN" altLang="en-US" sz="1200" dirty="0"/>
              <a:t xml:space="preserve">常见提问速答：</a:t>
            </a:r>
          </a:p>
          <a:p>
            <a:r>
              <a:rPr lang="zh-CN" altLang="en-US" sz="1200" dirty="0"/>
              <a:t xml:space="preserve">· 改个字段也要跑五个 Agent？→ 不用，看分级表，多数是 L0/L1。</a:t>
            </a:r>
          </a:p>
          <a:p>
            <a:r>
              <a:rPr lang="zh-CN" altLang="en-US" sz="1200" dirty="0"/>
              <a:t xml:space="preserve">· AI 误报卡死？→ 两条逃生通道：误报写驳回记录；risk accepted 写明复查触发阈值。都要具名留痕，禁止直接删 finding。</a:t>
            </a:r>
          </a:p>
          <a:p>
            <a:r>
              <a:rPr lang="zh-CN" altLang="en-US" sz="1200" dirty="0"/>
              <a:t xml:space="preserve">· 这不就是瀑布？→ 关键区别是成本。传统评审会要拉五个人开一小时，只能季度做一次；现在一次 4–8 分钟，可以每个 L3 变更都做。</a:t>
            </a:r>
          </a:p>
          <a:p>
            <a:r>
              <a:rPr lang="zh-CN" altLang="en-US" sz="1200" dirty="0"/>
              <a:t xml:space="preserve">· 评审文档要提交 git 吗？→ 提交，不删。签字是责任凭证，risk accepted 记着复查触发点。</a:t>
            </a:r>
          </a:p>
          <a:p>
            <a:r>
              <a:rPr lang="zh-CN" altLang="en-US" sz="1200" dirty="0"/>
              <a:t xml:space="preserve">· 跟 Cursor/Copilot 的 review 有什么区别？→ 那些是代码层的；这套跑在写代码之前，评的是 design.md。设计错了，代码写得再干净也是错的。</a:t>
            </a:r>
          </a:p>
          <a:p>
            <a:r>
              <a:rPr lang="zh-CN" altLang="en-US" sz="1200" dirty="0"/>
              <a:t xml:space="preserve">· 团队推不动？→ 先只推「方案写进文件」一条。推不动的根因通常是分级太严。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sz="44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>
          <a:solidFill>
            <a:schemeClr val="tx1"/>
          </a:solidFill>
          <a:latin typeface="+mj-lt"/>
          <a:ea typeface="+mj-ea"/>
        </a:defRPr>
      </a:lvl1pPr>
    </p:titleStyle>
    <p:bodyStyle>
      <a:lvl1pPr algn="l">
        <a:defRPr sz="1800">
          <a:solidFill>
            <a:schemeClr val="tx1"/>
          </a:solidFill>
          <a:latin typeface="+mn-lt"/>
          <a:ea typeface="+mn-ea"/>
        </a:defRPr>
      </a:lvl1pPr>
    </p:bodyStyle>
    <p:otherStyle>
      <a:lvl1pPr algn="l">
        <a:defRPr sz="1800">
          <a:solidFill>
            <a:schemeClr val="tx1"/>
          </a:solidFill>
          <a:latin typeface="+mn-lt"/>
          <a:ea typeface="+mn-ea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 2"/>
          <p:cNvSpPr txBox="1"/>
          <p:nvPr/>
        </p:nvSpPr>
        <p:spPr>
          <a:xfrm>
            <a:off x="822960" y="12984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团队技术分享 · AI 研发流程</a:t>
            </a:r>
          </a:p>
        </p:txBody>
      </p:sp>
      <p:sp>
        <p:nvSpPr>
          <p:cNvPr id="3" name="tx 3"/>
          <p:cNvSpPr txBox="1"/>
          <p:nvPr/>
        </p:nvSpPr>
        <p:spPr>
          <a:xfrm>
            <a:off x="822960" y="17830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从「一问一答」到「工程化工作流」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822960" y="28529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7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我是怎么用 AI 做研发的，以及为什么不再直接对话</a:t>
            </a:r>
          </a:p>
        </p:txBody>
      </p:sp>
      <p:sp>
        <p:nvSpPr>
          <p:cNvPr id="5" name="card 5"/>
          <p:cNvSpPr/>
          <p:nvPr/>
        </p:nvSpPr>
        <p:spPr>
          <a:xfrm>
            <a:off x="822960" y="3886200"/>
            <a:ext cx="2441448" cy="841248"/>
          </a:xfrm>
          <a:prstGeom prst="roundRect">
            <a:avLst>
              <a:gd name="adj" fmla="val 10869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6" name="tx 6"/>
          <p:cNvSpPr txBox="1"/>
          <p:nvPr/>
        </p:nvSpPr>
        <p:spPr>
          <a:xfrm>
            <a:off x="1078992" y="4059936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 xml:space="preserve">Explore</a:t>
            </a:r>
          </a:p>
        </p:txBody>
      </p:sp>
      <p:sp>
        <p:nvSpPr>
          <p:cNvPr id="7" name="tx 7"/>
          <p:cNvSpPr txBox="1"/>
          <p:nvPr/>
        </p:nvSpPr>
        <p:spPr>
          <a:xfrm>
            <a:off x="1078992" y="434340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需求澄清 · 方案探索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3264408" y="3886200"/>
            <a:ext cx="256032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9" name="card 9"/>
          <p:cNvSpPr/>
          <p:nvPr/>
        </p:nvSpPr>
        <p:spPr>
          <a:xfrm>
            <a:off x="3520440" y="3886200"/>
            <a:ext cx="2441448" cy="841248"/>
          </a:xfrm>
          <a:prstGeom prst="roundRect">
            <a:avLst>
              <a:gd name="adj" fmla="val 10869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0" name="tx 10"/>
          <p:cNvSpPr txBox="1"/>
          <p:nvPr/>
        </p:nvSpPr>
        <p:spPr>
          <a:xfrm>
            <a:off x="3776472" y="4059936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 xml:space="preserve">Propose</a:t>
            </a:r>
          </a:p>
        </p:txBody>
      </p:sp>
      <p:sp>
        <p:nvSpPr>
          <p:cNvPr id="11" name="tx 11"/>
          <p:cNvSpPr txBox="1"/>
          <p:nvPr/>
        </p:nvSpPr>
        <p:spPr>
          <a:xfrm>
            <a:off x="3776472" y="434340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落成 design / tasks</a:t>
            </a:r>
          </a:p>
        </p:txBody>
      </p:sp>
      <p:sp>
        <p:nvSpPr>
          <p:cNvPr id="12" name="tx 12"/>
          <p:cNvSpPr txBox="1"/>
          <p:nvPr/>
        </p:nvSpPr>
        <p:spPr>
          <a:xfrm>
            <a:off x="5961888" y="3886200"/>
            <a:ext cx="256032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13" name="card 13"/>
          <p:cNvSpPr/>
          <p:nvPr/>
        </p:nvSpPr>
        <p:spPr>
          <a:xfrm>
            <a:off x="6217920" y="3886200"/>
            <a:ext cx="2441448" cy="841248"/>
          </a:xfrm>
          <a:prstGeom prst="roundRect">
            <a:avLst>
              <a:gd name="adj" fmla="val 10869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4" name="tx 14"/>
          <p:cNvSpPr txBox="1"/>
          <p:nvPr/>
        </p:nvSpPr>
        <p:spPr>
          <a:xfrm>
            <a:off x="6473952" y="4059936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 xml:space="preserve">Review Gate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6473952" y="434340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五维度技术评审</a:t>
            </a:r>
          </a:p>
        </p:txBody>
      </p:sp>
      <p:sp>
        <p:nvSpPr>
          <p:cNvPr id="16" name="tx 16"/>
          <p:cNvSpPr txBox="1"/>
          <p:nvPr/>
        </p:nvSpPr>
        <p:spPr>
          <a:xfrm>
            <a:off x="8659368" y="3886200"/>
            <a:ext cx="256032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17" name="card 17"/>
          <p:cNvSpPr/>
          <p:nvPr/>
        </p:nvSpPr>
        <p:spPr>
          <a:xfrm>
            <a:off x="8915400" y="3886200"/>
            <a:ext cx="2441448" cy="841248"/>
          </a:xfrm>
          <a:prstGeom prst="roundRect">
            <a:avLst>
              <a:gd name="adj" fmla="val 10869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8" name="tx 18"/>
          <p:cNvSpPr txBox="1"/>
          <p:nvPr/>
        </p:nvSpPr>
        <p:spPr>
          <a:xfrm>
            <a:off x="9171432" y="4059936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 xml:space="preserve">Apply</a:t>
            </a:r>
          </a:p>
        </p:txBody>
      </p:sp>
      <p:sp>
        <p:nvSpPr>
          <p:cNvPr id="19" name="tx 19"/>
          <p:cNvSpPr txBox="1"/>
          <p:nvPr/>
        </p:nvSpPr>
        <p:spPr>
          <a:xfrm>
            <a:off x="9171432" y="434340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实现 · 质量 · 验证</a:t>
            </a:r>
          </a:p>
        </p:txBody>
      </p:sp>
      <p:sp>
        <p:nvSpPr>
          <p:cNvPr id="20" name="tx 20"/>
          <p:cNvSpPr txBox="1"/>
          <p:nvPr/>
        </p:nvSpPr>
        <p:spPr>
          <a:xfrm>
            <a:off x="822960" y="5806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演讲人：＿＿＿　·　日期：＿＿＿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 2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四段，二十分钟</a:t>
            </a:r>
          </a:p>
        </p:txBody>
      </p:sp>
      <p:sp>
        <p:nvSpPr>
          <p:cNvPr id="3" name="tx 3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今天讲什么</a:t>
            </a:r>
          </a:p>
        </p:txBody>
      </p:sp>
      <p:sp>
        <p:nvSpPr>
          <p:cNvPr id="4" name="card 4"/>
          <p:cNvSpPr/>
          <p:nvPr/>
        </p:nvSpPr>
        <p:spPr>
          <a:xfrm>
            <a:off x="566928" y="1572768"/>
            <a:ext cx="5355184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5" name="dot 5"/>
          <p:cNvSpPr/>
          <p:nvPr/>
        </p:nvSpPr>
        <p:spPr>
          <a:xfrm>
            <a:off x="877824" y="184708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6" name="tx 6"/>
          <p:cNvSpPr txBox="1"/>
          <p:nvPr/>
        </p:nvSpPr>
        <p:spPr>
          <a:xfrm>
            <a:off x="877824" y="18470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1</a:t>
            </a:r>
          </a:p>
        </p:txBody>
      </p:sp>
      <p:sp>
        <p:nvSpPr>
          <p:cNvPr id="7" name="tx 7"/>
          <p:cNvSpPr txBox="1"/>
          <p:nvPr/>
        </p:nvSpPr>
        <p:spPr>
          <a:xfrm>
            <a:off x="1536192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1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问题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3782416" y="1993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Courier New"/>
                <a:ea typeface="Courier New"/>
                <a:cs typeface="Courier New"/>
              </a:rPr>
              <a:t xml:space="preserve">P4 – P11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877824" y="2560320"/>
            <a:ext cx="4733392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一问一答的五个结构性缺陷：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覆盖度 · 共识 · 关口 · 审计 · 复制</a:t>
            </a:r>
          </a:p>
        </p:txBody>
      </p:sp>
      <p:sp>
        <p:nvSpPr>
          <p:cNvPr id="10" name="card 10"/>
          <p:cNvSpPr/>
          <p:nvPr/>
        </p:nvSpPr>
        <p:spPr>
          <a:xfrm>
            <a:off x="6269584" y="1572768"/>
            <a:ext cx="5355184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11" name="dot 11"/>
          <p:cNvSpPr/>
          <p:nvPr/>
        </p:nvSpPr>
        <p:spPr>
          <a:xfrm>
            <a:off x="6580480" y="1847088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2" name="tx 12"/>
          <p:cNvSpPr txBox="1"/>
          <p:nvPr/>
        </p:nvSpPr>
        <p:spPr>
          <a:xfrm>
            <a:off x="6580480" y="18470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2</a:t>
            </a:r>
          </a:p>
        </p:txBody>
      </p:sp>
      <p:sp>
        <p:nvSpPr>
          <p:cNvPr id="13" name="tx 13"/>
          <p:cNvSpPr txBox="1"/>
          <p:nvPr/>
        </p:nvSpPr>
        <p:spPr>
          <a:xfrm>
            <a:off x="7238848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1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机制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9485071" y="1993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Courier New"/>
                <a:ea typeface="Courier New"/>
                <a:cs typeface="Courier New"/>
              </a:rPr>
              <a:t xml:space="preserve">P12 – P17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6580480" y="2560320"/>
            <a:ext cx="4733392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工作流逐条怎么治：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分级 · 五维度门禁 · 闭环留痕 · 人工签字</a:t>
            </a:r>
          </a:p>
        </p:txBody>
      </p:sp>
      <p:sp>
        <p:nvSpPr>
          <p:cNvPr id="16" name="card 16"/>
          <p:cNvSpPr/>
          <p:nvPr/>
        </p:nvSpPr>
        <p:spPr>
          <a:xfrm>
            <a:off x="566928" y="3474720"/>
            <a:ext cx="5355184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17" name="dot 17"/>
          <p:cNvSpPr/>
          <p:nvPr/>
        </p:nvSpPr>
        <p:spPr>
          <a:xfrm>
            <a:off x="877824" y="3749040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8" name="tx 18"/>
          <p:cNvSpPr txBox="1"/>
          <p:nvPr/>
        </p:nvSpPr>
        <p:spPr>
          <a:xfrm>
            <a:off x="877824" y="374904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3</a:t>
            </a:r>
          </a:p>
        </p:txBody>
      </p:sp>
      <p:sp>
        <p:nvSpPr>
          <p:cNvPr id="19" name="tx 19"/>
          <p:cNvSpPr txBox="1"/>
          <p:nvPr/>
        </p:nvSpPr>
        <p:spPr>
          <a:xfrm>
            <a:off x="1536192" y="38221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1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对照</a:t>
            </a:r>
          </a:p>
        </p:txBody>
      </p:sp>
      <p:sp>
        <p:nvSpPr>
          <p:cNvPr id="20" name="tx 20"/>
          <p:cNvSpPr txBox="1"/>
          <p:nvPr/>
        </p:nvSpPr>
        <p:spPr>
          <a:xfrm>
            <a:off x="3782416" y="389534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Courier New"/>
                <a:ea typeface="Courier New"/>
                <a:cs typeface="Courier New"/>
              </a:rPr>
              <a:t xml:space="preserve">P18 – P20</a:t>
            </a:r>
          </a:p>
        </p:txBody>
      </p:sp>
      <p:sp>
        <p:nvSpPr>
          <p:cNvPr id="21" name="tx 21"/>
          <p:cNvSpPr txBox="1"/>
          <p:nvPr/>
        </p:nvSpPr>
        <p:spPr>
          <a:xfrm>
            <a:off x="877824" y="4462272"/>
            <a:ext cx="4733392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七个维度逐条对比，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以及为什么流程比能力更保值</a:t>
            </a:r>
          </a:p>
        </p:txBody>
      </p:sp>
      <p:sp>
        <p:nvSpPr>
          <p:cNvPr id="22" name="card 22"/>
          <p:cNvSpPr/>
          <p:nvPr/>
        </p:nvSpPr>
        <p:spPr>
          <a:xfrm>
            <a:off x="6269584" y="3474720"/>
            <a:ext cx="5355184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23" name="dot 23"/>
          <p:cNvSpPr/>
          <p:nvPr/>
        </p:nvSpPr>
        <p:spPr>
          <a:xfrm>
            <a:off x="6580480" y="3749040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4" name="tx 24"/>
          <p:cNvSpPr txBox="1"/>
          <p:nvPr/>
        </p:nvSpPr>
        <p:spPr>
          <a:xfrm>
            <a:off x="6580480" y="374904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4</a:t>
            </a:r>
          </a:p>
        </p:txBody>
      </p:sp>
      <p:sp>
        <p:nvSpPr>
          <p:cNvPr id="25" name="tx 25"/>
          <p:cNvSpPr txBox="1"/>
          <p:nvPr/>
        </p:nvSpPr>
        <p:spPr>
          <a:xfrm>
            <a:off x="7238848" y="38221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1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边界</a:t>
            </a:r>
          </a:p>
        </p:txBody>
      </p:sp>
      <p:sp>
        <p:nvSpPr>
          <p:cNvPr id="26" name="tx 26"/>
          <p:cNvSpPr txBox="1"/>
          <p:nvPr/>
        </p:nvSpPr>
        <p:spPr>
          <a:xfrm>
            <a:off x="9485071" y="389534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Courier New"/>
                <a:ea typeface="Courier New"/>
                <a:cs typeface="Courier New"/>
              </a:rPr>
              <a:t xml:space="preserve">P21 – P23</a:t>
            </a:r>
          </a:p>
        </p:txBody>
      </p:sp>
      <p:sp>
        <p:nvSpPr>
          <p:cNvPr id="27" name="tx 27"/>
          <p:cNvSpPr txBox="1"/>
          <p:nvPr/>
        </p:nvSpPr>
        <p:spPr>
          <a:xfrm>
            <a:off x="6580480" y="4462272"/>
            <a:ext cx="4733392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它拦不住什么、什么时候别用，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以及明天可以先做哪一件事</a:t>
            </a:r>
          </a:p>
        </p:txBody>
      </p:sp>
      <p:sp>
        <p:nvSpPr>
          <p:cNvPr id="28" name="card 28"/>
          <p:cNvSpPr/>
          <p:nvPr/>
        </p:nvSpPr>
        <p:spPr>
          <a:xfrm>
            <a:off x="566928" y="5486400"/>
            <a:ext cx="11057839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9" name="tx 29"/>
          <p:cNvSpPr txBox="1"/>
          <p:nvPr/>
        </p:nvSpPr>
        <p:spPr>
          <a:xfrm>
            <a:off x="914400" y="5614416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贯穿全场的一条主线</a:t>
            </a:r>
          </a:p>
        </p:txBody>
      </p:sp>
      <p:sp>
        <p:nvSpPr>
          <p:cNvPr id="30" name="tx 30"/>
          <p:cNvSpPr txBox="1"/>
          <p:nvPr/>
        </p:nvSpPr>
        <p:spPr>
          <a:xfrm>
            <a:off x="914400" y="5907024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AI 的能力不是瓶颈，「有没有人问」才是。</a:t>
            </a:r>
          </a:p>
        </p:txBody>
      </p:sp>
      <p:sp>
        <p:nvSpPr>
          <p:cNvPr id="31" name="tx 31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 2"/>
          <p:cNvSpPr txBox="1"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先讲一个我们都经历过的场景</a:t>
            </a:r>
          </a:p>
        </p:txBody>
      </p:sp>
      <p:sp>
        <p:nvSpPr>
          <p:cNvPr id="3" name="tx 3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开场</a:t>
            </a:r>
          </a:p>
        </p:txBody>
      </p:sp>
      <p:sp>
        <p:nvSpPr>
          <p:cNvPr id="4" name="card 4"/>
          <p:cNvSpPr/>
          <p:nvPr/>
        </p:nvSpPr>
        <p:spPr>
          <a:xfrm>
            <a:off x="566928" y="1554480"/>
            <a:ext cx="5349240" cy="269748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5" name="tx 5"/>
          <p:cNvSpPr txBox="1"/>
          <p:nvPr/>
        </p:nvSpPr>
        <p:spPr>
          <a:xfrm>
            <a:off x="841248" y="179222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常规做法</a:t>
            </a:r>
          </a:p>
        </p:txBody>
      </p:sp>
      <p:sp>
        <p:nvSpPr>
          <p:cNvPr id="6" name="dot 6"/>
          <p:cNvSpPr/>
          <p:nvPr/>
        </p:nvSpPr>
        <p:spPr>
          <a:xfrm>
            <a:off x="859536" y="2267712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859536" y="22677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1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1316736" y="229514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你：帮我写一个批量导入联系人的接口</a:t>
            </a:r>
          </a:p>
        </p:txBody>
      </p:sp>
      <p:sp>
        <p:nvSpPr>
          <p:cNvPr id="9" name="dot 9"/>
          <p:cNvSpPr/>
          <p:nvPr/>
        </p:nvSpPr>
        <p:spPr>
          <a:xfrm>
            <a:off x="859536" y="2834640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0" name="tx 10"/>
          <p:cNvSpPr txBox="1"/>
          <p:nvPr/>
        </p:nvSpPr>
        <p:spPr>
          <a:xfrm>
            <a:off x="859536" y="28346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2</a:t>
            </a:r>
          </a:p>
        </p:txBody>
      </p:sp>
      <p:sp>
        <p:nvSpPr>
          <p:cNvPr id="11" name="tx 11"/>
          <p:cNvSpPr txBox="1"/>
          <p:nvPr/>
        </p:nvSpPr>
        <p:spPr>
          <a:xfrm>
            <a:off x="1316736" y="286207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AI：写了。写得还挺好。</a:t>
            </a:r>
          </a:p>
        </p:txBody>
      </p:sp>
      <p:sp>
        <p:nvSpPr>
          <p:cNvPr id="12" name="dot 12"/>
          <p:cNvSpPr/>
          <p:nvPr/>
        </p:nvSpPr>
        <p:spPr>
          <a:xfrm>
            <a:off x="859536" y="3401568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tx 13"/>
          <p:cNvSpPr txBox="1"/>
          <p:nvPr/>
        </p:nvSpPr>
        <p:spPr>
          <a:xfrm>
            <a:off x="859536" y="34015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3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1316736" y="342900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你：review 一遍，改两处，提交</a:t>
            </a:r>
          </a:p>
        </p:txBody>
      </p:sp>
      <p:sp>
        <p:nvSpPr>
          <p:cNvPr id="15" name="card 15"/>
          <p:cNvSpPr/>
          <p:nvPr/>
        </p:nvSpPr>
        <p:spPr>
          <a:xfrm>
            <a:off x="6263640" y="1554480"/>
            <a:ext cx="5349240" cy="2697480"/>
          </a:xfrm>
          <a:prstGeom prst="roundRect">
            <a:avLst>
              <a:gd name="adj" fmla="val 3389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6" name="tx 16"/>
          <p:cNvSpPr txBox="1"/>
          <p:nvPr/>
        </p:nvSpPr>
        <p:spPr>
          <a:xfrm>
            <a:off x="6537960" y="179222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5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三个月后</a:t>
            </a:r>
          </a:p>
        </p:txBody>
      </p:sp>
      <p:sp>
        <p:nvSpPr>
          <p:cNvPr id="17" name="dot 17"/>
          <p:cNvSpPr/>
          <p:nvPr/>
        </p:nvSpPr>
        <p:spPr>
          <a:xfrm>
            <a:off x="6556248" y="2331720"/>
            <a:ext cx="292608" cy="292608"/>
          </a:xfrm>
          <a:prstGeom prst="ellipse">
            <a:avLst/>
          </a:prstGeom>
          <a:solidFill>
            <a:srgbClr val="C43D2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8" name="tx 18"/>
          <p:cNvSpPr txBox="1"/>
          <p:nvPr/>
        </p:nvSpPr>
        <p:spPr>
          <a:xfrm>
            <a:off x="6556248" y="23317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✕</a:t>
            </a:r>
          </a:p>
        </p:txBody>
      </p:sp>
      <p:sp>
        <p:nvSpPr>
          <p:cNvPr id="19" name="tx 19"/>
          <p:cNvSpPr txBox="1"/>
          <p:nvPr/>
        </p:nvSpPr>
        <p:spPr>
          <a:xfrm>
            <a:off x="7013448" y="235915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某租户 10 万条数据，接口超时</a:t>
            </a:r>
          </a:p>
        </p:txBody>
      </p:sp>
      <p:sp>
        <p:nvSpPr>
          <p:cNvPr id="20" name="dot 20"/>
          <p:cNvSpPr/>
          <p:nvPr/>
        </p:nvSpPr>
        <p:spPr>
          <a:xfrm>
            <a:off x="6556248" y="2935224"/>
            <a:ext cx="292608" cy="292608"/>
          </a:xfrm>
          <a:prstGeom prst="ellipse">
            <a:avLst/>
          </a:prstGeom>
          <a:solidFill>
            <a:srgbClr val="C43D2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1" name="tx 21"/>
          <p:cNvSpPr txBox="1"/>
          <p:nvPr/>
        </p:nvSpPr>
        <p:spPr>
          <a:xfrm>
            <a:off x="6556248" y="29352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✕</a:t>
            </a:r>
          </a:p>
        </p:txBody>
      </p:sp>
      <p:sp>
        <p:nvSpPr>
          <p:cNvPr id="22" name="tx 22"/>
          <p:cNvSpPr txBox="1"/>
          <p:nvPr/>
        </p:nvSpPr>
        <p:spPr>
          <a:xfrm>
            <a:off x="7013448" y="296265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MQ 重复消费，联系人翻倍</a:t>
            </a:r>
          </a:p>
        </p:txBody>
      </p:sp>
      <p:sp>
        <p:nvSpPr>
          <p:cNvPr id="23" name="tx 23"/>
          <p:cNvSpPr txBox="1"/>
          <p:nvPr/>
        </p:nvSpPr>
        <p:spPr>
          <a:xfrm>
            <a:off x="6556248" y="36118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排查两天，人工清理数据。</a:t>
            </a:r>
          </a:p>
        </p:txBody>
      </p:sp>
      <p:sp>
        <p:nvSpPr>
          <p:cNvPr id="24" name="tx 24"/>
          <p:cNvSpPr txBox="1"/>
          <p:nvPr/>
        </p:nvSpPr>
        <p:spPr>
          <a:xfrm>
            <a:off x="566928" y="47091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AI 没写错代码。是没有人问。</a:t>
            </a:r>
          </a:p>
        </p:txBody>
      </p:sp>
      <p:sp>
        <p:nvSpPr>
          <p:cNvPr id="25" name="tx 25"/>
          <p:cNvSpPr txBox="1"/>
          <p:nvPr/>
        </p:nvSpPr>
        <p:spPr>
          <a:xfrm>
            <a:off x="566928" y="5394960"/>
            <a:ext cx="11055096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「数据量级多大」「会不会重复消费」—— 这两个问题，没有出现在任何一次对话里。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不是 AI 答错了，是没人提。它把你给的那句话，尽职尽责地实现了。</a:t>
            </a:r>
          </a:p>
        </p:txBody>
      </p:sp>
      <p:sp>
        <p:nvSpPr>
          <p:cNvPr id="26" name="tx 26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822960" y="1161288"/>
            <a:ext cx="274320" cy="2743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822960" y="11612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41B47"/>
                </a:solidFill>
                <a:latin typeface="Courier New"/>
                <a:ea typeface="Courier New"/>
                <a:cs typeface="Courier New"/>
              </a:rPr>
              <a:t xml:space="preserve">1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1207008" y="1197864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问题</a:t>
            </a:r>
            <a:r>
              <a:rPr lang="zh-CN" altLang="en-US" sz="1250" b="1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　·　核心命题 01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822960" y="1874520"/>
            <a:ext cx="10607040" cy="2606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一问一答的天花板，</a:t>
            </a:r>
          </a:p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不是 AI 的能力，</a:t>
            </a:r>
          </a:p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是提问者当天想到了什么。</a:t>
            </a:r>
          </a:p>
        </p:txBody>
      </p:sp>
      <p:sp>
        <p:nvSpPr>
          <p:cNvPr id="6" name="card 6"/>
          <p:cNvSpPr/>
          <p:nvPr/>
        </p:nvSpPr>
        <p:spPr>
          <a:xfrm>
            <a:off x="822960" y="4709160"/>
            <a:ext cx="10543032" cy="868680"/>
          </a:xfrm>
          <a:prstGeom prst="roundRect">
            <a:avLst>
              <a:gd name="adj" fmla="val 10526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1143000" y="4956048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而且最要命的是 —— </a:t>
            </a:r>
            <a:r>
              <a:rPr lang="zh-CN" altLang="en-US" sz="1900" b="1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你不会知道你漏问了什么。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8A97C4"/>
                </a:solidFill>
                <a:latin typeface="Courier New"/>
                <a:ea typeface="Courier New"/>
                <a:cs typeface="Courier New"/>
              </a:rPr>
              <a:t xml:space="preserve"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1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问题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一问一答的失败是静默的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缺陷的本质</a:t>
            </a:r>
          </a:p>
        </p:txBody>
      </p:sp>
      <p:sp>
        <p:nvSpPr>
          <p:cNvPr id="6" name="dot 6"/>
          <p:cNvSpPr/>
          <p:nvPr/>
        </p:nvSpPr>
        <p:spPr>
          <a:xfrm>
            <a:off x="731520" y="1709928"/>
            <a:ext cx="274320" cy="27432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1133856" y="173736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编译错误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3538728" y="1746504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红的，立刻知道</a:t>
            </a:r>
          </a:p>
        </p:txBody>
      </p:sp>
      <p:sp>
        <p:nvSpPr>
          <p:cNvPr id="9" name="dot 9"/>
          <p:cNvSpPr/>
          <p:nvPr/>
        </p:nvSpPr>
        <p:spPr>
          <a:xfrm>
            <a:off x="731520" y="2441448"/>
            <a:ext cx="274320" cy="27432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0" name="tx 10"/>
          <p:cNvSpPr txBox="1"/>
          <p:nvPr/>
        </p:nvSpPr>
        <p:spPr>
          <a:xfrm>
            <a:off x="1133856" y="246888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单测失败</a:t>
            </a:r>
          </a:p>
        </p:txBody>
      </p:sp>
      <p:sp>
        <p:nvSpPr>
          <p:cNvPr id="11" name="tx 11"/>
          <p:cNvSpPr txBox="1"/>
          <p:nvPr/>
        </p:nvSpPr>
        <p:spPr>
          <a:xfrm>
            <a:off x="3538728" y="2478024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红的，立刻知道</a:t>
            </a:r>
          </a:p>
        </p:txBody>
      </p:sp>
      <p:sp>
        <p:nvSpPr>
          <p:cNvPr id="12" name="dot 12"/>
          <p:cNvSpPr/>
          <p:nvPr/>
        </p:nvSpPr>
        <p:spPr>
          <a:xfrm>
            <a:off x="731520" y="3172968"/>
            <a:ext cx="274320" cy="274320"/>
          </a:xfrm>
          <a:prstGeom prst="ellipse">
            <a:avLst/>
          </a:prstGeom>
          <a:solidFill>
            <a:srgbClr val="C77E1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tx 13"/>
          <p:cNvSpPr txBox="1"/>
          <p:nvPr/>
        </p:nvSpPr>
        <p:spPr>
          <a:xfrm>
            <a:off x="1133856" y="320040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Sonar 告警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3538728" y="3209544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黄的，看得见</a:t>
            </a:r>
          </a:p>
        </p:txBody>
      </p:sp>
      <p:sp>
        <p:nvSpPr>
          <p:cNvPr id="15" name="card 15"/>
          <p:cNvSpPr/>
          <p:nvPr/>
        </p:nvSpPr>
        <p:spPr>
          <a:xfrm>
            <a:off x="566928" y="3767328"/>
            <a:ext cx="6784848" cy="603504"/>
          </a:xfrm>
          <a:prstGeom prst="roundRect">
            <a:avLst>
              <a:gd name="adj" fmla="val 12121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6" name="dot 16"/>
          <p:cNvSpPr/>
          <p:nvPr/>
        </p:nvSpPr>
        <p:spPr>
          <a:xfrm>
            <a:off x="731520" y="3904488"/>
            <a:ext cx="274320" cy="274320"/>
          </a:xfrm>
          <a:prstGeom prst="ellipse">
            <a:avLst/>
          </a:prstGeom>
          <a:solidFill>
            <a:srgbClr val="C43D2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7" name="tx 17"/>
          <p:cNvSpPr txBox="1"/>
          <p:nvPr/>
        </p:nvSpPr>
        <p:spPr>
          <a:xfrm>
            <a:off x="1133856" y="393192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漏问了一个维度</a:t>
            </a:r>
          </a:p>
        </p:txBody>
      </p:sp>
      <p:sp>
        <p:nvSpPr>
          <p:cNvPr id="18" name="tx 18"/>
          <p:cNvSpPr txBox="1"/>
          <p:nvPr/>
        </p:nvSpPr>
        <p:spPr>
          <a:xfrm>
            <a:off x="3538728" y="3941064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什么都没有。代码跑起来了。</a:t>
            </a:r>
          </a:p>
        </p:txBody>
      </p:sp>
      <p:sp>
        <p:nvSpPr>
          <p:cNvPr id="19" name="card 19"/>
          <p:cNvSpPr/>
          <p:nvPr/>
        </p:nvSpPr>
        <p:spPr>
          <a:xfrm>
            <a:off x="7635240" y="1572768"/>
            <a:ext cx="3977640" cy="3310128"/>
          </a:xfrm>
          <a:prstGeom prst="roundRect">
            <a:avLst>
              <a:gd name="adj" fmla="val 2762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0" name="tx 20"/>
          <p:cNvSpPr txBox="1"/>
          <p:nvPr/>
        </p:nvSpPr>
        <p:spPr>
          <a:xfrm>
            <a:off x="7936992" y="1847088"/>
            <a:ext cx="3401568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工程上所有的质量手段，本质都是把静默失败变成显式信号。</a:t>
            </a:r>
          </a:p>
        </p:txBody>
      </p:sp>
      <p:sp>
        <p:nvSpPr>
          <p:cNvPr id="21" name="tx 21"/>
          <p:cNvSpPr txBox="1"/>
          <p:nvPr/>
        </p:nvSpPr>
        <p:spPr>
          <a:xfrm>
            <a:off x="7936992" y="3017520"/>
            <a:ext cx="3401568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唯独「用 AI 做研发」这件事，目前还停留在没有任何信号的状态。</a:t>
            </a:r>
          </a:p>
        </p:txBody>
      </p:sp>
      <p:sp>
        <p:nvSpPr>
          <p:cNvPr id="22" name="tx 22"/>
          <p:cNvSpPr txBox="1"/>
          <p:nvPr/>
        </p:nvSpPr>
        <p:spPr>
          <a:xfrm>
            <a:off x="7936992" y="4005072"/>
            <a:ext cx="3401568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这套工作流的目的只有一个：给 AI 研发过程装上红灯。</a:t>
            </a:r>
          </a:p>
        </p:txBody>
      </p:sp>
      <p:sp>
        <p:nvSpPr>
          <p:cNvPr id="23" name="tx 23"/>
          <p:cNvSpPr txBox="1"/>
          <p:nvPr/>
        </p:nvSpPr>
        <p:spPr>
          <a:xfrm>
            <a:off x="566928" y="525780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编译器、类型系统、单测、CI、静态扫描 —— 我们所有的工程手段，都在做同一件事。</a:t>
            </a:r>
          </a:p>
        </p:txBody>
      </p:sp>
      <p:sp>
        <p:nvSpPr>
          <p:cNvPr id="24" name="tx 24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1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问题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一问一答的五个结构性缺陷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问题拆解</a:t>
            </a:r>
          </a:p>
        </p:txBody>
      </p:sp>
      <p:sp>
        <p:nvSpPr>
          <p:cNvPr id="6" name="dot 6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566928" y="15727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01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1133856" y="162763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覆盖度取决于提问者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4087368" y="164592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漏问 = 漏做，而且完全无感</a:t>
            </a:r>
          </a:p>
        </p:txBody>
      </p:sp>
      <p:sp>
        <p:nvSpPr>
          <p:cNvPr id="10" name="dot 10"/>
          <p:cNvSpPr/>
          <p:nvPr/>
        </p:nvSpPr>
        <p:spPr>
          <a:xfrm>
            <a:off x="566928" y="235915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1" name="tx 11"/>
          <p:cNvSpPr txBox="1"/>
          <p:nvPr/>
        </p:nvSpPr>
        <p:spPr>
          <a:xfrm>
            <a:off x="566928" y="23591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02</a:t>
            </a:r>
          </a:p>
        </p:txBody>
      </p:sp>
      <p:sp>
        <p:nvSpPr>
          <p:cNvPr id="12" name="tx 12"/>
          <p:cNvSpPr txBox="1"/>
          <p:nvPr/>
        </p:nvSpPr>
        <p:spPr>
          <a:xfrm>
            <a:off x="1133856" y="241401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共识是易失的</a:t>
            </a:r>
          </a:p>
        </p:txBody>
      </p:sp>
      <p:sp>
        <p:nvSpPr>
          <p:cNvPr id="13" name="tx 13"/>
          <p:cNvSpPr txBox="1"/>
          <p:nvPr/>
        </p:nvSpPr>
        <p:spPr>
          <a:xfrm>
            <a:off x="4087368" y="2432304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会话一关，所有结论归零</a:t>
            </a:r>
          </a:p>
        </p:txBody>
      </p:sp>
      <p:sp>
        <p:nvSpPr>
          <p:cNvPr id="14" name="dot 14"/>
          <p:cNvSpPr/>
          <p:nvPr/>
        </p:nvSpPr>
        <p:spPr>
          <a:xfrm>
            <a:off x="566928" y="314553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5" name="tx 15"/>
          <p:cNvSpPr txBox="1"/>
          <p:nvPr/>
        </p:nvSpPr>
        <p:spPr>
          <a:xfrm>
            <a:off x="566928" y="3145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03</a:t>
            </a:r>
          </a:p>
        </p:txBody>
      </p:sp>
      <p:sp>
        <p:nvSpPr>
          <p:cNvPr id="16" name="tx 16"/>
          <p:cNvSpPr txBox="1"/>
          <p:nvPr/>
        </p:nvSpPr>
        <p:spPr>
          <a:xfrm>
            <a:off x="1133856" y="320040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没有关口</a:t>
            </a:r>
          </a:p>
        </p:txBody>
      </p:sp>
      <p:sp>
        <p:nvSpPr>
          <p:cNvPr id="17" name="tx 17"/>
          <p:cNvSpPr txBox="1"/>
          <p:nvPr/>
        </p:nvSpPr>
        <p:spPr>
          <a:xfrm>
            <a:off x="4087368" y="3218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需求还没说清楚，代码已经在写了</a:t>
            </a:r>
          </a:p>
        </p:txBody>
      </p:sp>
      <p:sp>
        <p:nvSpPr>
          <p:cNvPr id="18" name="dot 18"/>
          <p:cNvSpPr/>
          <p:nvPr/>
        </p:nvSpPr>
        <p:spPr>
          <a:xfrm>
            <a:off x="566928" y="393192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9" name="tx 19"/>
          <p:cNvSpPr txBox="1"/>
          <p:nvPr/>
        </p:nvSpPr>
        <p:spPr>
          <a:xfrm>
            <a:off x="566928" y="3931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04</a:t>
            </a:r>
          </a:p>
        </p:txBody>
      </p:sp>
      <p:sp>
        <p:nvSpPr>
          <p:cNvPr id="20" name="tx 20"/>
          <p:cNvSpPr txBox="1"/>
          <p:nvPr/>
        </p:nvSpPr>
        <p:spPr>
          <a:xfrm>
            <a:off x="1133856" y="398678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决策不可审计</a:t>
            </a:r>
          </a:p>
        </p:txBody>
      </p:sp>
      <p:sp>
        <p:nvSpPr>
          <p:cNvPr id="21" name="tx 21"/>
          <p:cNvSpPr txBox="1"/>
          <p:nvPr/>
        </p:nvSpPr>
        <p:spPr>
          <a:xfrm>
            <a:off x="4087368" y="400507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谁批的、为什么这么定、否掉过什么，全都没有记录</a:t>
            </a:r>
          </a:p>
        </p:txBody>
      </p:sp>
      <p:sp>
        <p:nvSpPr>
          <p:cNvPr id="22" name="dot 22"/>
          <p:cNvSpPr/>
          <p:nvPr/>
        </p:nvSpPr>
        <p:spPr>
          <a:xfrm>
            <a:off x="566928" y="4718304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3" name="tx 23"/>
          <p:cNvSpPr txBox="1"/>
          <p:nvPr/>
        </p:nvSpPr>
        <p:spPr>
          <a:xfrm>
            <a:off x="566928" y="47183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05</a:t>
            </a:r>
          </a:p>
        </p:txBody>
      </p:sp>
      <p:sp>
        <p:nvSpPr>
          <p:cNvPr id="24" name="tx 24"/>
          <p:cNvSpPr txBox="1"/>
          <p:nvPr/>
        </p:nvSpPr>
        <p:spPr>
          <a:xfrm>
            <a:off x="1133856" y="477316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质量不可复制</a:t>
            </a:r>
          </a:p>
        </p:txBody>
      </p:sp>
      <p:sp>
        <p:nvSpPr>
          <p:cNvPr id="25" name="tx 25"/>
          <p:cNvSpPr txBox="1"/>
          <p:nvPr/>
        </p:nvSpPr>
        <p:spPr>
          <a:xfrm>
            <a:off x="4087368" y="479145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高手的提问方式，封装在他脑子里，带不走</a:t>
            </a:r>
          </a:p>
        </p:txBody>
      </p:sp>
      <p:sp>
        <p:nvSpPr>
          <p:cNvPr id="26" name="card 26"/>
          <p:cNvSpPr/>
          <p:nvPr/>
        </p:nvSpPr>
        <p:spPr>
          <a:xfrm>
            <a:off x="566928" y="5577840"/>
            <a:ext cx="11055096" cy="777240"/>
          </a:xfrm>
          <a:prstGeom prst="roundRect">
            <a:avLst>
              <a:gd name="adj" fmla="val 11764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7" name="tx 27"/>
          <p:cNvSpPr txBox="1"/>
          <p:nvPr/>
        </p:nvSpPr>
        <p:spPr>
          <a:xfrm>
            <a:off x="914400" y="581558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注意：这五条都不是「AI 不够聪明」—— </a:t>
            </a:r>
            <a:r>
              <a:rPr lang="zh-CN" altLang="en-US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换一个更强的模型，一条都解决不了。</a:t>
            </a:r>
            <a:r>
              <a:rPr lang="zh-CN" altLang="en-US" sz="15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这是流程结构的问题。</a:t>
            </a:r>
          </a:p>
        </p:txBody>
      </p:sp>
      <p:sp>
        <p:nvSpPr>
          <p:cNvPr id="28" name="tx 28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1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问题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覆盖度取决于提问者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缺陷 01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554480"/>
            <a:ext cx="58521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841248" y="1792224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你问的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841248" y="206654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这个接口怎么写？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841248" y="269748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没问的</a:t>
            </a:r>
          </a:p>
        </p:txBody>
      </p:sp>
      <p:sp>
        <p:nvSpPr>
          <p:cNvPr id="10" name="tx 10"/>
          <p:cNvSpPr txBox="1"/>
          <p:nvPr/>
        </p:nvSpPr>
        <p:spPr>
          <a:xfrm>
            <a:off x="841248" y="2999232"/>
            <a:ext cx="5303520" cy="1737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6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数据量级？并发量？幂等？索引？租户隔离？</a:t>
            </a:r>
          </a:p>
          <a:p>
            <a:pPr marL="0" indent="0" algn="l">
              <a:lnSpc>
                <a:spcPct val="16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回滚方案？灰度开关？监控埋点？告警阈值？</a:t>
            </a:r>
          </a:p>
          <a:p>
            <a:pPr marL="0" indent="0" algn="l">
              <a:lnSpc>
                <a:spcPct val="16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怎么写单测？外部依赖能不能 mock？</a:t>
            </a:r>
          </a:p>
        </p:txBody>
      </p:sp>
      <p:sp>
        <p:nvSpPr>
          <p:cNvPr id="11" name="card 11"/>
          <p:cNvSpPr/>
          <p:nvPr/>
        </p:nvSpPr>
        <p:spPr>
          <a:xfrm>
            <a:off x="6784848" y="1554480"/>
            <a:ext cx="4828032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2" name="tx 12"/>
          <p:cNvSpPr txBox="1"/>
          <p:nvPr/>
        </p:nvSpPr>
        <p:spPr>
          <a:xfrm>
            <a:off x="7059168" y="1938528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覆盖度 =</a:t>
            </a:r>
          </a:p>
          <a:p>
            <a:pPr marL="0" indent="0" algn="ctr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f ( 提问者当天的状态 )</a:t>
            </a:r>
          </a:p>
        </p:txBody>
      </p:sp>
      <p:sp>
        <p:nvSpPr>
          <p:cNvPr id="13" name="card 13"/>
          <p:cNvSpPr/>
          <p:nvPr/>
        </p:nvSpPr>
        <p:spPr>
          <a:xfrm>
            <a:off x="6784848" y="3383280"/>
            <a:ext cx="4828032" cy="1691640"/>
          </a:xfrm>
          <a:prstGeom prst="roundRect">
            <a:avLst>
              <a:gd name="adj" fmla="val 5405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4" name="tx 14"/>
          <p:cNvSpPr txBox="1"/>
          <p:nvPr/>
        </p:nvSpPr>
        <p:spPr>
          <a:xfrm>
            <a:off x="7059168" y="3675888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人的记性是会波动的。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周一上午和周五下午，你能想起来的东西不一样。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566928" y="5413248"/>
            <a:ext cx="11055096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工作流的第一个作用：把「该问的问题」从人的记性里搬出来，变成文件。</a:t>
            </a:r>
          </a:p>
        </p:txBody>
      </p:sp>
      <p:sp>
        <p:nvSpPr>
          <p:cNvPr id="16" name="tx 16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1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问题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共识是易失的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缺陷 02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600200"/>
            <a:ext cx="2468880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749808" y="18470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对话里达成的共识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749808" y="2212848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DB 做唯一真值源</a:t>
            </a:r>
          </a:p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方案 A 因跨机房延迟否掉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3035808" y="1600200"/>
            <a:ext cx="393192" cy="1417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10" name="card 10"/>
          <p:cNvSpPr/>
          <p:nvPr/>
        </p:nvSpPr>
        <p:spPr>
          <a:xfrm>
            <a:off x="3429000" y="1600200"/>
            <a:ext cx="2468880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1" name="tx 11"/>
          <p:cNvSpPr txBox="1"/>
          <p:nvPr/>
        </p:nvSpPr>
        <p:spPr>
          <a:xfrm>
            <a:off x="3611880" y="18470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会话关闭</a:t>
            </a:r>
          </a:p>
        </p:txBody>
      </p:sp>
      <p:sp>
        <p:nvSpPr>
          <p:cNvPr id="12" name="tx 12"/>
          <p:cNvSpPr txBox="1"/>
          <p:nvPr/>
        </p:nvSpPr>
        <p:spPr>
          <a:xfrm>
            <a:off x="3611880" y="2212848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上下文销毁</a:t>
            </a:r>
          </a:p>
        </p:txBody>
      </p:sp>
      <p:sp>
        <p:nvSpPr>
          <p:cNvPr id="13" name="tx 13"/>
          <p:cNvSpPr txBox="1"/>
          <p:nvPr/>
        </p:nvSpPr>
        <p:spPr>
          <a:xfrm>
            <a:off x="5897880" y="1600200"/>
            <a:ext cx="393192" cy="1417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14" name="card 14"/>
          <p:cNvSpPr/>
          <p:nvPr/>
        </p:nvSpPr>
        <p:spPr>
          <a:xfrm>
            <a:off x="6291072" y="1600200"/>
            <a:ext cx="2468880" cy="1417320"/>
          </a:xfrm>
          <a:prstGeom prst="roundRect">
            <a:avLst>
              <a:gd name="adj" fmla="val 6451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5" name="tx 15"/>
          <p:cNvSpPr txBox="1"/>
          <p:nvPr/>
        </p:nvSpPr>
        <p:spPr>
          <a:xfrm>
            <a:off x="6473952" y="18470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全部归零</a:t>
            </a:r>
          </a:p>
        </p:txBody>
      </p:sp>
      <p:sp>
        <p:nvSpPr>
          <p:cNvPr id="16" name="tx 16"/>
          <p:cNvSpPr txBox="1"/>
          <p:nvPr/>
        </p:nvSpPr>
        <p:spPr>
          <a:xfrm>
            <a:off x="6473952" y="2212848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没有任何落盘</a:t>
            </a:r>
          </a:p>
        </p:txBody>
      </p:sp>
      <p:sp>
        <p:nvSpPr>
          <p:cNvPr id="17" name="tx 17"/>
          <p:cNvSpPr txBox="1"/>
          <p:nvPr/>
        </p:nvSpPr>
        <p:spPr>
          <a:xfrm>
            <a:off x="8759952" y="1600200"/>
            <a:ext cx="393192" cy="1417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18" name="card 18"/>
          <p:cNvSpPr/>
          <p:nvPr/>
        </p:nvSpPr>
        <p:spPr>
          <a:xfrm>
            <a:off x="9153144" y="1600200"/>
            <a:ext cx="2468880" cy="1417320"/>
          </a:xfrm>
          <a:prstGeom prst="roundRect">
            <a:avLst>
              <a:gd name="adj" fmla="val 6451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9" name="tx 19"/>
          <p:cNvSpPr txBox="1"/>
          <p:nvPr/>
        </p:nvSpPr>
        <p:spPr>
          <a:xfrm>
            <a:off x="9336024" y="18470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下一轮 AI</a:t>
            </a:r>
          </a:p>
        </p:txBody>
      </p:sp>
      <p:sp>
        <p:nvSpPr>
          <p:cNvPr id="20" name="tx 20"/>
          <p:cNvSpPr txBox="1"/>
          <p:nvPr/>
        </p:nvSpPr>
        <p:spPr>
          <a:xfrm>
            <a:off x="9336024" y="2212848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把死路重走一遍</a:t>
            </a:r>
          </a:p>
        </p:txBody>
      </p:sp>
      <p:sp>
        <p:nvSpPr>
          <p:cNvPr id="21" name="card 21"/>
          <p:cNvSpPr/>
          <p:nvPr/>
        </p:nvSpPr>
        <p:spPr>
          <a:xfrm>
            <a:off x="566928" y="3310128"/>
            <a:ext cx="11055096" cy="1115568"/>
          </a:xfrm>
          <a:prstGeom prst="roundRect">
            <a:avLst>
              <a:gd name="adj" fmla="val 8196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2" name="tx 22"/>
          <p:cNvSpPr txBox="1"/>
          <p:nvPr/>
        </p:nvSpPr>
        <p:spPr>
          <a:xfrm>
            <a:off x="914400" y="352958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「为什么不选 A」的价值，不亚于「为什么选 B」。</a:t>
            </a:r>
          </a:p>
        </p:txBody>
      </p:sp>
      <p:sp>
        <p:nvSpPr>
          <p:cNvPr id="23" name="tx 23"/>
          <p:cNvSpPr txBox="1"/>
          <p:nvPr/>
        </p:nvSpPr>
        <p:spPr>
          <a:xfrm>
            <a:off x="914400" y="3968496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而恰恰是前者，最容易随着会话一起消失。</a:t>
            </a:r>
          </a:p>
        </p:txBody>
      </p:sp>
      <p:sp>
        <p:nvSpPr>
          <p:cNvPr id="24" name="tx 24"/>
          <p:cNvSpPr txBox="1"/>
          <p:nvPr/>
        </p:nvSpPr>
        <p:spPr>
          <a:xfrm>
            <a:off x="566928" y="4709160"/>
            <a:ext cx="11055096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三个月后另一个人接手，或者你自己开一个新会话 ——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AI 会兴致勃勃地把方案 A 重新推荐给你一遍，因为它不知道那条路已经走过了。</a:t>
            </a:r>
          </a:p>
        </p:txBody>
      </p:sp>
      <p:sp>
        <p:nvSpPr>
          <p:cNvPr id="25" name="tx 25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1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问题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没有关口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缺陷 03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600200"/>
            <a:ext cx="6035040" cy="1280160"/>
          </a:xfrm>
          <a:prstGeom prst="roundRect">
            <a:avLst>
              <a:gd name="adj" fmla="val 7142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886968" y="1819656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需求还没明确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886968" y="2167128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已经在分析性能</a:t>
            </a:r>
          </a:p>
        </p:txBody>
      </p:sp>
      <p:sp>
        <p:nvSpPr>
          <p:cNvPr id="9" name="card 9"/>
          <p:cNvSpPr/>
          <p:nvPr/>
        </p:nvSpPr>
        <p:spPr>
          <a:xfrm>
            <a:off x="566928" y="3108960"/>
            <a:ext cx="6035040" cy="1280160"/>
          </a:xfrm>
          <a:prstGeom prst="roundRect">
            <a:avLst>
              <a:gd name="adj" fmla="val 7142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0" name="tx 10"/>
          <p:cNvSpPr txBox="1"/>
          <p:nvPr/>
        </p:nvSpPr>
        <p:spPr>
          <a:xfrm>
            <a:off x="886968" y="3328416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方案还没定</a:t>
            </a:r>
          </a:p>
        </p:txBody>
      </p:sp>
      <p:sp>
        <p:nvSpPr>
          <p:cNvPr id="11" name="tx 11"/>
          <p:cNvSpPr txBox="1"/>
          <p:nvPr/>
        </p:nvSpPr>
        <p:spPr>
          <a:xfrm>
            <a:off x="886968" y="3675888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已经在写 Controller</a:t>
            </a:r>
          </a:p>
        </p:txBody>
      </p:sp>
      <p:sp>
        <p:nvSpPr>
          <p:cNvPr id="12" name="card 12"/>
          <p:cNvSpPr/>
          <p:nvPr/>
        </p:nvSpPr>
        <p:spPr>
          <a:xfrm>
            <a:off x="6858000" y="1600200"/>
            <a:ext cx="475488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tx 13"/>
          <p:cNvSpPr txBox="1"/>
          <p:nvPr/>
        </p:nvSpPr>
        <p:spPr>
          <a:xfrm>
            <a:off x="7178040" y="18745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第一原则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7178040" y="2304288"/>
            <a:ext cx="4206240" cy="1783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需求未明确，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不分析性能。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方案未确定，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不开始编码。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7178040" y="42062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写在流程文档的第一行</a:t>
            </a:r>
          </a:p>
        </p:txBody>
      </p:sp>
      <p:sp>
        <p:nvSpPr>
          <p:cNvPr id="16" name="tx 16"/>
          <p:cNvSpPr txBox="1"/>
          <p:nvPr/>
        </p:nvSpPr>
        <p:spPr>
          <a:xfrm>
            <a:off x="566928" y="489204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在人的团队里，需求评审没过就开工，PM 会找你。但 AI 不会拒绝你。</a:t>
            </a:r>
          </a:p>
        </p:txBody>
      </p:sp>
      <p:sp>
        <p:nvSpPr>
          <p:cNvPr id="17" name="tx 17"/>
          <p:cNvSpPr txBox="1"/>
          <p:nvPr/>
        </p:nvSpPr>
        <p:spPr>
          <a:xfrm>
            <a:off x="566928" y="550468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一问一答天然没有阶段感 —— 你说「写个接口」，它下一秒就在写代码了。</a:t>
            </a:r>
          </a:p>
        </p:txBody>
      </p:sp>
      <p:sp>
        <p:nvSpPr>
          <p:cNvPr id="18" name="tx 18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1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问题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决策不可审计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缺陷 04</a:t>
            </a:r>
          </a:p>
        </p:txBody>
      </p:sp>
      <p:sp>
        <p:nvSpPr>
          <p:cNvPr id="6" name="tx 6"/>
          <p:cNvSpPr txBox="1"/>
          <p:nvPr/>
        </p:nvSpPr>
        <p:spPr>
          <a:xfrm>
            <a:off x="566928" y="1536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半年后出事，复盘会上你需要回答四个问题：</a:t>
            </a:r>
          </a:p>
        </p:txBody>
      </p:sp>
      <p:sp>
        <p:nvSpPr>
          <p:cNvPr id="7" name="dot 7"/>
          <p:cNvSpPr/>
          <p:nvPr/>
        </p:nvSpPr>
        <p:spPr>
          <a:xfrm>
            <a:off x="566928" y="2103120"/>
            <a:ext cx="365760" cy="365760"/>
          </a:xfrm>
          <a:prstGeom prst="ellipse">
            <a:avLst/>
          </a:prstGeom>
          <a:solidFill>
            <a:srgbClr val="F3F6F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8" name="tx 8"/>
          <p:cNvSpPr txBox="1"/>
          <p:nvPr/>
        </p:nvSpPr>
        <p:spPr>
          <a:xfrm>
            <a:off x="566928" y="2103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 xml:space="preserve">01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1115568" y="2148840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这个方案当初是谁批准的？</a:t>
            </a:r>
          </a:p>
        </p:txBody>
      </p:sp>
      <p:sp>
        <p:nvSpPr>
          <p:cNvPr id="10" name="card 10"/>
          <p:cNvSpPr/>
          <p:nvPr/>
        </p:nvSpPr>
        <p:spPr>
          <a:xfrm>
            <a:off x="7772400" y="2093976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1" name="tx 11"/>
          <p:cNvSpPr txBox="1"/>
          <p:nvPr/>
        </p:nvSpPr>
        <p:spPr>
          <a:xfrm>
            <a:off x="7772400" y="209397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没有记录</a:t>
            </a:r>
          </a:p>
        </p:txBody>
      </p:sp>
      <p:sp>
        <p:nvSpPr>
          <p:cNvPr id="12" name="dot 12"/>
          <p:cNvSpPr/>
          <p:nvPr/>
        </p:nvSpPr>
        <p:spPr>
          <a:xfrm>
            <a:off x="566928" y="2889504"/>
            <a:ext cx="365760" cy="365760"/>
          </a:xfrm>
          <a:prstGeom prst="ellipse">
            <a:avLst/>
          </a:prstGeom>
          <a:solidFill>
            <a:srgbClr val="F3F6F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tx 13"/>
          <p:cNvSpPr txBox="1"/>
          <p:nvPr/>
        </p:nvSpPr>
        <p:spPr>
          <a:xfrm>
            <a:off x="566928" y="28895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 xml:space="preserve">02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1115568" y="2935224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基于什么结论批准的？</a:t>
            </a:r>
          </a:p>
        </p:txBody>
      </p:sp>
      <p:sp>
        <p:nvSpPr>
          <p:cNvPr id="15" name="card 15"/>
          <p:cNvSpPr/>
          <p:nvPr/>
        </p:nvSpPr>
        <p:spPr>
          <a:xfrm>
            <a:off x="7772400" y="2880360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6" name="tx 16"/>
          <p:cNvSpPr txBox="1"/>
          <p:nvPr/>
        </p:nvSpPr>
        <p:spPr>
          <a:xfrm>
            <a:off x="7772400" y="288036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没有记录</a:t>
            </a:r>
          </a:p>
        </p:txBody>
      </p:sp>
      <p:sp>
        <p:nvSpPr>
          <p:cNvPr id="17" name="dot 17"/>
          <p:cNvSpPr/>
          <p:nvPr/>
        </p:nvSpPr>
        <p:spPr>
          <a:xfrm>
            <a:off x="566928" y="3675888"/>
            <a:ext cx="365760" cy="365760"/>
          </a:xfrm>
          <a:prstGeom prst="ellipse">
            <a:avLst/>
          </a:prstGeom>
          <a:solidFill>
            <a:srgbClr val="F3F6F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8" name="tx 18"/>
          <p:cNvSpPr txBox="1"/>
          <p:nvPr/>
        </p:nvSpPr>
        <p:spPr>
          <a:xfrm>
            <a:off x="566928" y="36758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 xml:space="preserve">03</a:t>
            </a:r>
          </a:p>
        </p:txBody>
      </p:sp>
      <p:sp>
        <p:nvSpPr>
          <p:cNvPr id="19" name="tx 19"/>
          <p:cNvSpPr txBox="1"/>
          <p:nvPr/>
        </p:nvSpPr>
        <p:spPr>
          <a:xfrm>
            <a:off x="1115568" y="3721608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有没有人提过这个风险？</a:t>
            </a:r>
          </a:p>
        </p:txBody>
      </p:sp>
      <p:sp>
        <p:nvSpPr>
          <p:cNvPr id="20" name="card 20"/>
          <p:cNvSpPr/>
          <p:nvPr/>
        </p:nvSpPr>
        <p:spPr>
          <a:xfrm>
            <a:off x="7772400" y="3666744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1" name="tx 21"/>
          <p:cNvSpPr txBox="1"/>
          <p:nvPr/>
        </p:nvSpPr>
        <p:spPr>
          <a:xfrm>
            <a:off x="7772400" y="366674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没有记录</a:t>
            </a:r>
          </a:p>
        </p:txBody>
      </p:sp>
      <p:sp>
        <p:nvSpPr>
          <p:cNvPr id="22" name="dot 22"/>
          <p:cNvSpPr/>
          <p:nvPr/>
        </p:nvSpPr>
        <p:spPr>
          <a:xfrm>
            <a:off x="566928" y="4462272"/>
            <a:ext cx="365760" cy="365760"/>
          </a:xfrm>
          <a:prstGeom prst="ellipse">
            <a:avLst/>
          </a:prstGeom>
          <a:solidFill>
            <a:srgbClr val="F3F6F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3" name="tx 23"/>
          <p:cNvSpPr txBox="1"/>
          <p:nvPr/>
        </p:nvSpPr>
        <p:spPr>
          <a:xfrm>
            <a:off x="566928" y="4462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 xml:space="preserve">04</a:t>
            </a:r>
          </a:p>
        </p:txBody>
      </p:sp>
      <p:sp>
        <p:nvSpPr>
          <p:cNvPr id="24" name="tx 24"/>
          <p:cNvSpPr txBox="1"/>
          <p:nvPr/>
        </p:nvSpPr>
        <p:spPr>
          <a:xfrm>
            <a:off x="1115568" y="4507992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为什么明知有风险还是上了？</a:t>
            </a:r>
          </a:p>
        </p:txBody>
      </p:sp>
      <p:sp>
        <p:nvSpPr>
          <p:cNvPr id="25" name="card 25"/>
          <p:cNvSpPr/>
          <p:nvPr/>
        </p:nvSpPr>
        <p:spPr>
          <a:xfrm>
            <a:off x="7772400" y="4453128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6" name="tx 26"/>
          <p:cNvSpPr txBox="1"/>
          <p:nvPr/>
        </p:nvSpPr>
        <p:spPr>
          <a:xfrm>
            <a:off x="7772400" y="445312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没有记录</a:t>
            </a:r>
          </a:p>
        </p:txBody>
      </p:sp>
      <p:sp>
        <p:nvSpPr>
          <p:cNvPr id="27" name="card 27"/>
          <p:cNvSpPr/>
          <p:nvPr/>
        </p:nvSpPr>
        <p:spPr>
          <a:xfrm>
            <a:off x="566928" y="5440680"/>
            <a:ext cx="11055096" cy="841248"/>
          </a:xfrm>
          <a:prstGeom prst="roundRect">
            <a:avLst>
              <a:gd name="adj" fmla="val 10869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8" name="tx 28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我们对人写的代码有 PR、有 review 记录、有 commit message。</a:t>
            </a:r>
            <a:r>
              <a:rPr lang="zh-CN" altLang="en-US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对 AI 参与的设计决策，目前是一片空白。</a:t>
            </a:r>
          </a:p>
        </p:txBody>
      </p:sp>
      <p:sp>
        <p:nvSpPr>
          <p:cNvPr id="29" name="tx 29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1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问题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质量不可复制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缺陷 05</a:t>
            </a:r>
          </a:p>
        </p:txBody>
      </p:sp>
      <p:sp>
        <p:nvSpPr>
          <p:cNvPr id="6" name="tx 6"/>
          <p:cNvSpPr txBox="1"/>
          <p:nvPr/>
        </p:nvSpPr>
        <p:spPr>
          <a:xfrm>
            <a:off x="566928" y="153619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同一个模型，同一个需求 ——</a:t>
            </a:r>
          </a:p>
        </p:txBody>
      </p:sp>
      <p:sp>
        <p:nvSpPr>
          <p:cNvPr id="7" name="card 7"/>
          <p:cNvSpPr/>
          <p:nvPr/>
        </p:nvSpPr>
        <p:spPr>
          <a:xfrm>
            <a:off x="566928" y="1965960"/>
            <a:ext cx="5349240" cy="2331720"/>
          </a:xfrm>
          <a:prstGeom prst="roundRect">
            <a:avLst>
              <a:gd name="adj" fmla="val 3921"/>
            </a:avLst>
          </a:prstGeom>
          <a:solidFill>
            <a:srgbClr val="E9F3EE"/>
          </a:solidFill>
          <a:ln w="12700">
            <a:solidFill>
              <a:srgbClr val="CFE4D9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8" name="tx 8"/>
          <p:cNvSpPr txBox="1"/>
          <p:nvPr/>
        </p:nvSpPr>
        <p:spPr>
          <a:xfrm>
            <a:off x="886968" y="221284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5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资深同事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886968" y="2606040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层层追问，覆盖 8 个维度</a:t>
            </a:r>
          </a:p>
          <a:p>
            <a:pPr marL="0" indent="0" algn="l">
              <a:lnSpc>
                <a:spcPct val="145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把边界、异常、量级都逼出来</a:t>
            </a:r>
          </a:p>
        </p:txBody>
      </p:sp>
      <p:sp>
        <p:nvSpPr>
          <p:cNvPr id="10" name="tx 10"/>
          <p:cNvSpPr txBox="1"/>
          <p:nvPr/>
        </p:nvSpPr>
        <p:spPr>
          <a:xfrm>
            <a:off x="886968" y="36118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→ 方案扎实</a:t>
            </a:r>
          </a:p>
        </p:txBody>
      </p:sp>
      <p:sp>
        <p:nvSpPr>
          <p:cNvPr id="11" name="card 11"/>
          <p:cNvSpPr/>
          <p:nvPr/>
        </p:nvSpPr>
        <p:spPr>
          <a:xfrm>
            <a:off x="6263640" y="1965960"/>
            <a:ext cx="5349240" cy="2331720"/>
          </a:xfrm>
          <a:prstGeom prst="roundRect">
            <a:avLst>
              <a:gd name="adj" fmla="val 3921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2" name="tx 12"/>
          <p:cNvSpPr txBox="1"/>
          <p:nvPr/>
        </p:nvSpPr>
        <p:spPr>
          <a:xfrm>
            <a:off x="6583680" y="221284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5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新同学</a:t>
            </a:r>
          </a:p>
        </p:txBody>
      </p:sp>
      <p:sp>
        <p:nvSpPr>
          <p:cNvPr id="13" name="tx 13"/>
          <p:cNvSpPr txBox="1"/>
          <p:nvPr/>
        </p:nvSpPr>
        <p:spPr>
          <a:xfrm>
            <a:off x="6583680" y="2606040"/>
            <a:ext cx="4663440" cy="749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一句话描述，拿到就写</a:t>
            </a:r>
          </a:p>
          <a:p>
            <a:pPr marL="0" indent="0" algn="l">
              <a:lnSpc>
                <a:spcPct val="145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以为 AI 会自己考虑周全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6583680" y="36118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→ 埋雷</a:t>
            </a:r>
          </a:p>
        </p:txBody>
      </p:sp>
      <p:sp>
        <p:nvSpPr>
          <p:cNvPr id="15" name="card 15"/>
          <p:cNvSpPr/>
          <p:nvPr/>
        </p:nvSpPr>
        <p:spPr>
          <a:xfrm>
            <a:off x="566928" y="4617720"/>
            <a:ext cx="11055096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6" name="tx 16"/>
          <p:cNvSpPr txBox="1"/>
          <p:nvPr/>
        </p:nvSpPr>
        <p:spPr>
          <a:xfrm>
            <a:off x="914400" y="486460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他们的能力封装在脑子里，写不进 wiki，也带不走。</a:t>
            </a:r>
          </a:p>
        </p:txBody>
      </p:sp>
      <p:sp>
        <p:nvSpPr>
          <p:cNvPr id="17" name="tx 17"/>
          <p:cNvSpPr txBox="1"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→ 五条加起来指向同一个结论：需要把研发流程本身，做成资产。</a:t>
            </a:r>
          </a:p>
        </p:txBody>
      </p:sp>
      <p:sp>
        <p:nvSpPr>
          <p:cNvPr id="18" name="tx 18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2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机制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工作流全景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解法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572768"/>
            <a:ext cx="960120" cy="1389888"/>
          </a:xfrm>
          <a:prstGeom prst="roundRect">
            <a:avLst>
              <a:gd name="adj" fmla="val 7619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566928" y="1572768"/>
            <a:ext cx="960120" cy="1389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不写代码</a:t>
            </a:r>
          </a:p>
        </p:txBody>
      </p:sp>
      <p:sp>
        <p:nvSpPr>
          <p:cNvPr id="8" name="card 8"/>
          <p:cNvSpPr/>
          <p:nvPr/>
        </p:nvSpPr>
        <p:spPr>
          <a:xfrm>
            <a:off x="1737360" y="1572768"/>
            <a:ext cx="1773936" cy="1389888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9" name="tx 9"/>
          <p:cNvSpPr txBox="1"/>
          <p:nvPr/>
        </p:nvSpPr>
        <p:spPr>
          <a:xfrm>
            <a:off x="1874520" y="1773936"/>
            <a:ext cx="14996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Explore</a:t>
            </a:r>
          </a:p>
        </p:txBody>
      </p:sp>
      <p:sp>
        <p:nvSpPr>
          <p:cNvPr id="10" name="tx 10"/>
          <p:cNvSpPr txBox="1"/>
          <p:nvPr/>
        </p:nvSpPr>
        <p:spPr>
          <a:xfrm>
            <a:off x="1874520" y="2139696"/>
            <a:ext cx="149961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需求澄清 · 方案探索</a:t>
            </a:r>
          </a:p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proposal / design</a:t>
            </a:r>
          </a:p>
        </p:txBody>
      </p:sp>
      <p:sp>
        <p:nvSpPr>
          <p:cNvPr id="11" name="tx 11"/>
          <p:cNvSpPr txBox="1"/>
          <p:nvPr/>
        </p:nvSpPr>
        <p:spPr>
          <a:xfrm>
            <a:off x="3511296" y="1572768"/>
            <a:ext cx="237744" cy="1389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12" name="card 12"/>
          <p:cNvSpPr/>
          <p:nvPr/>
        </p:nvSpPr>
        <p:spPr>
          <a:xfrm>
            <a:off x="3749040" y="1572768"/>
            <a:ext cx="1773936" cy="1389888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tx 13"/>
          <p:cNvSpPr txBox="1"/>
          <p:nvPr/>
        </p:nvSpPr>
        <p:spPr>
          <a:xfrm>
            <a:off x="3886200" y="1773936"/>
            <a:ext cx="14996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Overview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3886200" y="2139696"/>
            <a:ext cx="149961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字段台账 · 条件矩阵</a:t>
            </a:r>
          </a:p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overview.md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5522976" y="1572768"/>
            <a:ext cx="237744" cy="1389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16" name="card 16"/>
          <p:cNvSpPr/>
          <p:nvPr/>
        </p:nvSpPr>
        <p:spPr>
          <a:xfrm>
            <a:off x="5760720" y="1572768"/>
            <a:ext cx="1773936" cy="1389888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7" name="tx 17"/>
          <p:cNvSpPr txBox="1"/>
          <p:nvPr/>
        </p:nvSpPr>
        <p:spPr>
          <a:xfrm>
            <a:off x="5897880" y="1773936"/>
            <a:ext cx="14996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分级判定</a:t>
            </a:r>
          </a:p>
        </p:txBody>
      </p:sp>
      <p:sp>
        <p:nvSpPr>
          <p:cNvPr id="18" name="tx 18"/>
          <p:cNvSpPr txBox="1"/>
          <p:nvPr/>
        </p:nvSpPr>
        <p:spPr>
          <a:xfrm>
            <a:off x="5897880" y="2139696"/>
            <a:ext cx="149961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L0 豁免 / L1</a:t>
            </a:r>
          </a:p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L2 / L3</a:t>
            </a:r>
          </a:p>
        </p:txBody>
      </p:sp>
      <p:sp>
        <p:nvSpPr>
          <p:cNvPr id="19" name="tx 19"/>
          <p:cNvSpPr txBox="1"/>
          <p:nvPr/>
        </p:nvSpPr>
        <p:spPr>
          <a:xfrm>
            <a:off x="7534656" y="1572768"/>
            <a:ext cx="237744" cy="1389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20" name="card 20"/>
          <p:cNvSpPr/>
          <p:nvPr/>
        </p:nvSpPr>
        <p:spPr>
          <a:xfrm>
            <a:off x="7772400" y="1572768"/>
            <a:ext cx="1773936" cy="1389888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1" name="tx 21"/>
          <p:cNvSpPr txBox="1"/>
          <p:nvPr/>
        </p:nvSpPr>
        <p:spPr>
          <a:xfrm>
            <a:off x="7909560" y="1773936"/>
            <a:ext cx="14996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评审门禁</a:t>
            </a:r>
          </a:p>
        </p:txBody>
      </p:sp>
      <p:sp>
        <p:nvSpPr>
          <p:cNvPr id="22" name="tx 22"/>
          <p:cNvSpPr txBox="1"/>
          <p:nvPr/>
        </p:nvSpPr>
        <p:spPr>
          <a:xfrm>
            <a:off x="7909560" y="2139696"/>
            <a:ext cx="149961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架构 并发 性能</a:t>
            </a:r>
          </a:p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数据库 安全</a:t>
            </a:r>
          </a:p>
        </p:txBody>
      </p:sp>
      <p:sp>
        <p:nvSpPr>
          <p:cNvPr id="23" name="tx 23"/>
          <p:cNvSpPr txBox="1"/>
          <p:nvPr/>
        </p:nvSpPr>
        <p:spPr>
          <a:xfrm>
            <a:off x="9546336" y="1572768"/>
            <a:ext cx="237744" cy="1389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24" name="card 24"/>
          <p:cNvSpPr/>
          <p:nvPr/>
        </p:nvSpPr>
        <p:spPr>
          <a:xfrm>
            <a:off x="9784080" y="1572768"/>
            <a:ext cx="1773936" cy="1389888"/>
          </a:xfrm>
          <a:prstGeom prst="roundRect">
            <a:avLst>
              <a:gd name="adj" fmla="val 6578"/>
            </a:avLst>
          </a:prstGeom>
          <a:solidFill>
            <a:srgbClr val="1E2761"/>
          </a:solidFill>
          <a:ln>
            <a:noFill/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25" name="tx 25"/>
          <p:cNvSpPr txBox="1"/>
          <p:nvPr/>
        </p:nvSpPr>
        <p:spPr>
          <a:xfrm>
            <a:off x="9921240" y="1773936"/>
            <a:ext cx="14996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人工签字</a:t>
            </a:r>
          </a:p>
        </p:txBody>
      </p:sp>
      <p:sp>
        <p:nvSpPr>
          <p:cNvPr id="26" name="tx 26"/>
          <p:cNvSpPr txBox="1"/>
          <p:nvPr/>
        </p:nvSpPr>
        <p:spPr>
          <a:xfrm>
            <a:off x="9921240" y="2139696"/>
            <a:ext cx="149961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硬门禁</a:t>
            </a:r>
          </a:p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未签字禁止 apply</a:t>
            </a:r>
          </a:p>
        </p:txBody>
      </p:sp>
      <p:sp>
        <p:nvSpPr>
          <p:cNvPr id="27" name="tx 27"/>
          <p:cNvSpPr txBox="1"/>
          <p:nvPr/>
        </p:nvSpPr>
        <p:spPr>
          <a:xfrm>
            <a:off x="1737360" y="3054096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←  BLOCKED：回改 design.md 并留闭环记录，按牵连关系重走对应维度</a:t>
            </a:r>
          </a:p>
        </p:txBody>
      </p:sp>
      <p:sp>
        <p:nvSpPr>
          <p:cNvPr id="28" name="card 28"/>
          <p:cNvSpPr/>
          <p:nvPr/>
        </p:nvSpPr>
        <p:spPr>
          <a:xfrm>
            <a:off x="566928" y="3474720"/>
            <a:ext cx="960120" cy="1261872"/>
          </a:xfrm>
          <a:prstGeom prst="roundRect">
            <a:avLst>
              <a:gd name="adj" fmla="val 7619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9" name="tx 29"/>
          <p:cNvSpPr txBox="1"/>
          <p:nvPr/>
        </p:nvSpPr>
        <p:spPr>
          <a:xfrm>
            <a:off x="566928" y="3474720"/>
            <a:ext cx="960120" cy="1261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写代码</a:t>
            </a:r>
          </a:p>
        </p:txBody>
      </p:sp>
      <p:sp>
        <p:nvSpPr>
          <p:cNvPr id="30" name="card 30"/>
          <p:cNvSpPr/>
          <p:nvPr/>
        </p:nvSpPr>
        <p:spPr>
          <a:xfrm>
            <a:off x="1737360" y="3474720"/>
            <a:ext cx="1773936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31" name="tx 31"/>
          <p:cNvSpPr txBox="1"/>
          <p:nvPr/>
        </p:nvSpPr>
        <p:spPr>
          <a:xfrm>
            <a:off x="1874520" y="3675888"/>
            <a:ext cx="14996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Apply</a:t>
            </a:r>
          </a:p>
        </p:txBody>
      </p:sp>
      <p:sp>
        <p:nvSpPr>
          <p:cNvPr id="32" name="tx 32"/>
          <p:cNvSpPr txBox="1"/>
          <p:nvPr/>
        </p:nvSpPr>
        <p:spPr>
          <a:xfrm>
            <a:off x="1874520" y="4041648"/>
            <a:ext cx="1499616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按已评审方案实现</a:t>
            </a:r>
          </a:p>
        </p:txBody>
      </p:sp>
      <p:sp>
        <p:nvSpPr>
          <p:cNvPr id="33" name="tx 33"/>
          <p:cNvSpPr txBox="1"/>
          <p:nvPr/>
        </p:nvSpPr>
        <p:spPr>
          <a:xfrm>
            <a:off x="3511296" y="3474720"/>
            <a:ext cx="237744" cy="1261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34" name="card 34"/>
          <p:cNvSpPr/>
          <p:nvPr/>
        </p:nvSpPr>
        <p:spPr>
          <a:xfrm>
            <a:off x="3749040" y="3474720"/>
            <a:ext cx="1773936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35" name="tx 35"/>
          <p:cNvSpPr txBox="1"/>
          <p:nvPr/>
        </p:nvSpPr>
        <p:spPr>
          <a:xfrm>
            <a:off x="3886200" y="3675888"/>
            <a:ext cx="14996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Quality</a:t>
            </a:r>
          </a:p>
        </p:txBody>
      </p:sp>
      <p:sp>
        <p:nvSpPr>
          <p:cNvPr id="36" name="tx 36"/>
          <p:cNvSpPr txBox="1"/>
          <p:nvPr/>
        </p:nvSpPr>
        <p:spPr>
          <a:xfrm>
            <a:off x="3886200" y="4041648"/>
            <a:ext cx="1499616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diff 层代码质量</a:t>
            </a:r>
          </a:p>
        </p:txBody>
      </p:sp>
      <p:sp>
        <p:nvSpPr>
          <p:cNvPr id="37" name="tx 37"/>
          <p:cNvSpPr txBox="1"/>
          <p:nvPr/>
        </p:nvSpPr>
        <p:spPr>
          <a:xfrm>
            <a:off x="5522976" y="3474720"/>
            <a:ext cx="237744" cy="1261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38" name="card 38"/>
          <p:cNvSpPr/>
          <p:nvPr/>
        </p:nvSpPr>
        <p:spPr>
          <a:xfrm>
            <a:off x="5760720" y="3474720"/>
            <a:ext cx="1773936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39" name="tx 39"/>
          <p:cNvSpPr txBox="1"/>
          <p:nvPr/>
        </p:nvSpPr>
        <p:spPr>
          <a:xfrm>
            <a:off x="5897880" y="3675888"/>
            <a:ext cx="14996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Verify</a:t>
            </a:r>
          </a:p>
        </p:txBody>
      </p:sp>
      <p:sp>
        <p:nvSpPr>
          <p:cNvPr id="40" name="tx 40"/>
          <p:cNvSpPr txBox="1"/>
          <p:nvPr/>
        </p:nvSpPr>
        <p:spPr>
          <a:xfrm>
            <a:off x="5897880" y="4041648"/>
            <a:ext cx="1499616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三维校验 + 条件核对</a:t>
            </a:r>
          </a:p>
        </p:txBody>
      </p:sp>
      <p:sp>
        <p:nvSpPr>
          <p:cNvPr id="41" name="tx 41"/>
          <p:cNvSpPr txBox="1"/>
          <p:nvPr/>
        </p:nvSpPr>
        <p:spPr>
          <a:xfrm>
            <a:off x="7534656" y="3474720"/>
            <a:ext cx="237744" cy="1261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</a:p>
        </p:txBody>
      </p:sp>
      <p:sp>
        <p:nvSpPr>
          <p:cNvPr id="42" name="card 42"/>
          <p:cNvSpPr/>
          <p:nvPr/>
        </p:nvSpPr>
        <p:spPr>
          <a:xfrm>
            <a:off x="7772400" y="3474720"/>
            <a:ext cx="1773936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43" name="tx 43"/>
          <p:cNvSpPr txBox="1"/>
          <p:nvPr/>
        </p:nvSpPr>
        <p:spPr>
          <a:xfrm>
            <a:off x="7909560" y="3675888"/>
            <a:ext cx="14996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Archive</a:t>
            </a:r>
          </a:p>
        </p:txBody>
      </p:sp>
      <p:sp>
        <p:nvSpPr>
          <p:cNvPr id="44" name="tx 44"/>
          <p:cNvSpPr txBox="1"/>
          <p:nvPr/>
        </p:nvSpPr>
        <p:spPr>
          <a:xfrm>
            <a:off x="7909560" y="4041648"/>
            <a:ext cx="1499616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能力沉淀进 specs</a:t>
            </a:r>
          </a:p>
        </p:txBody>
      </p:sp>
      <p:sp>
        <p:nvSpPr>
          <p:cNvPr id="45" name="card 45"/>
          <p:cNvSpPr/>
          <p:nvPr/>
        </p:nvSpPr>
        <p:spPr>
          <a:xfrm>
            <a:off x="566928" y="4956048"/>
            <a:ext cx="11055096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46" name="tx 46"/>
          <p:cNvSpPr txBox="1"/>
          <p:nvPr/>
        </p:nvSpPr>
        <p:spPr>
          <a:xfrm>
            <a:off x="914400" y="517550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一条主线：先把话说清楚，再评审，人签字，然后才写代码，写完再核。</a:t>
            </a:r>
          </a:p>
        </p:txBody>
      </p:sp>
      <p:sp>
        <p:nvSpPr>
          <p:cNvPr id="47" name="tx 47"/>
          <p:cNvSpPr txBox="1"/>
          <p:nvPr/>
        </p:nvSpPr>
        <p:spPr>
          <a:xfrm>
            <a:off x="914400" y="559612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每一个机制，都在治前面五条缺陷中的某一条。</a:t>
            </a:r>
          </a:p>
        </p:txBody>
      </p:sp>
      <p:sp>
        <p:nvSpPr>
          <p:cNvPr id="48" name="tx 48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2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机制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先分级 —— 这决定了流程会不会被扔掉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机制 01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600200"/>
            <a:ext cx="6537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card 7"/>
          <p:cNvSpPr/>
          <p:nvPr/>
        </p:nvSpPr>
        <p:spPr>
          <a:xfrm>
            <a:off x="731520" y="1801368"/>
            <a:ext cx="566928" cy="384048"/>
          </a:xfrm>
          <a:prstGeom prst="roundRect">
            <a:avLst>
              <a:gd name="adj" fmla="val 14285"/>
            </a:avLst>
          </a:prstGeom>
          <a:solidFill>
            <a:srgbClr val="6B7794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8" name="tx 8"/>
          <p:cNvSpPr txBox="1"/>
          <p:nvPr/>
        </p:nvSpPr>
        <p:spPr>
          <a:xfrm>
            <a:off x="731520" y="1801368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L0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1435608" y="172821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豁免</a:t>
            </a:r>
          </a:p>
        </p:txBody>
      </p:sp>
      <p:sp>
        <p:nvSpPr>
          <p:cNvPr id="10" name="tx 10"/>
          <p:cNvSpPr txBox="1"/>
          <p:nvPr/>
        </p:nvSpPr>
        <p:spPr>
          <a:xfrm>
            <a:off x="1435608" y="202082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文案 / 注释 / 配置值 / 格式化 / 依赖小版本</a:t>
            </a:r>
          </a:p>
        </p:txBody>
      </p:sp>
      <p:sp>
        <p:nvSpPr>
          <p:cNvPr id="11" name="tx 11"/>
          <p:cNvSpPr txBox="1"/>
          <p:nvPr/>
        </p:nvSpPr>
        <p:spPr>
          <a:xfrm>
            <a:off x="5458968" y="1746504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跳过门禁</a:t>
            </a:r>
          </a:p>
        </p:txBody>
      </p:sp>
      <p:sp>
        <p:nvSpPr>
          <p:cNvPr id="12" name="card 12"/>
          <p:cNvSpPr/>
          <p:nvPr/>
        </p:nvSpPr>
        <p:spPr>
          <a:xfrm>
            <a:off x="566928" y="2441448"/>
            <a:ext cx="6537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card 13"/>
          <p:cNvSpPr/>
          <p:nvPr/>
        </p:nvSpPr>
        <p:spPr>
          <a:xfrm>
            <a:off x="731520" y="2642616"/>
            <a:ext cx="566928" cy="384048"/>
          </a:xfrm>
          <a:prstGeom prst="roundRect">
            <a:avLst>
              <a:gd name="adj" fmla="val 14285"/>
            </a:avLst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4" name="tx 14"/>
          <p:cNvSpPr txBox="1"/>
          <p:nvPr/>
        </p:nvSpPr>
        <p:spPr>
          <a:xfrm>
            <a:off x="731520" y="264261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L1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1435608" y="256946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轻量</a:t>
            </a:r>
          </a:p>
        </p:txBody>
      </p:sp>
      <p:sp>
        <p:nvSpPr>
          <p:cNvPr id="16" name="tx 16"/>
          <p:cNvSpPr txBox="1"/>
          <p:nvPr/>
        </p:nvSpPr>
        <p:spPr>
          <a:xfrm>
            <a:off x="1435608" y="28620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单表单接口 CRUD / 新增非核心字段</a:t>
            </a:r>
          </a:p>
        </p:txBody>
      </p:sp>
      <p:sp>
        <p:nvSpPr>
          <p:cNvPr id="17" name="tx 17"/>
          <p:cNvSpPr txBox="1"/>
          <p:nvPr/>
        </p:nvSpPr>
        <p:spPr>
          <a:xfrm>
            <a:off x="5458968" y="2587752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database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+ security</a:t>
            </a:r>
          </a:p>
        </p:txBody>
      </p:sp>
      <p:sp>
        <p:nvSpPr>
          <p:cNvPr id="18" name="card 18"/>
          <p:cNvSpPr/>
          <p:nvPr/>
        </p:nvSpPr>
        <p:spPr>
          <a:xfrm>
            <a:off x="566928" y="3282696"/>
            <a:ext cx="6537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19" name="card 19"/>
          <p:cNvSpPr/>
          <p:nvPr/>
        </p:nvSpPr>
        <p:spPr>
          <a:xfrm>
            <a:off x="731520" y="3483864"/>
            <a:ext cx="566928" cy="384048"/>
          </a:xfrm>
          <a:prstGeom prst="roundRect">
            <a:avLst>
              <a:gd name="adj" fmla="val 14285"/>
            </a:avLst>
          </a:prstGeom>
          <a:solidFill>
            <a:srgbClr val="C77E1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0" name="tx 20"/>
          <p:cNvSpPr txBox="1"/>
          <p:nvPr/>
        </p:nvSpPr>
        <p:spPr>
          <a:xfrm>
            <a:off x="731520" y="3483864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L2</a:t>
            </a:r>
          </a:p>
        </p:txBody>
      </p:sp>
      <p:sp>
        <p:nvSpPr>
          <p:cNvPr id="21" name="tx 21"/>
          <p:cNvSpPr txBox="1"/>
          <p:nvPr/>
        </p:nvSpPr>
        <p:spPr>
          <a:xfrm>
            <a:off x="1435608" y="341071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标准</a:t>
            </a:r>
          </a:p>
        </p:txBody>
      </p:sp>
      <p:sp>
        <p:nvSpPr>
          <p:cNvPr id="22" name="tx 22"/>
          <p:cNvSpPr txBox="1"/>
          <p:nvPr/>
        </p:nvSpPr>
        <p:spPr>
          <a:xfrm>
            <a:off x="1435608" y="37033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新业务流程 / 跨模块 / 缓存 / 批量</a:t>
            </a:r>
          </a:p>
        </p:txBody>
      </p:sp>
      <p:sp>
        <p:nvSpPr>
          <p:cNvPr id="23" name="tx 23"/>
          <p:cNvSpPr txBox="1"/>
          <p:nvPr/>
        </p:nvSpPr>
        <p:spPr>
          <a:xfrm>
            <a:off x="5458968" y="34290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C77E1E"/>
                </a:solidFill>
                <a:latin typeface="Microsoft YaHei"/>
                <a:ea typeface="Microsoft YaHei"/>
                <a:cs typeface="Microsoft YaHei"/>
              </a:rPr>
              <a:t xml:space="preserve">+ architecture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C77E1E"/>
                </a:solidFill>
                <a:latin typeface="Microsoft YaHei"/>
                <a:ea typeface="Microsoft YaHei"/>
                <a:cs typeface="Microsoft YaHei"/>
              </a:rPr>
              <a:t xml:space="preserve">+ performance</a:t>
            </a:r>
          </a:p>
        </p:txBody>
      </p:sp>
      <p:sp>
        <p:nvSpPr>
          <p:cNvPr id="24" name="card 24"/>
          <p:cNvSpPr/>
          <p:nvPr/>
        </p:nvSpPr>
        <p:spPr>
          <a:xfrm>
            <a:off x="566928" y="4123944"/>
            <a:ext cx="6537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25" name="card 25"/>
          <p:cNvSpPr/>
          <p:nvPr/>
        </p:nvSpPr>
        <p:spPr>
          <a:xfrm>
            <a:off x="731520" y="4325112"/>
            <a:ext cx="566928" cy="384048"/>
          </a:xfrm>
          <a:prstGeom prst="roundRect">
            <a:avLst>
              <a:gd name="adj" fmla="val 14285"/>
            </a:avLst>
          </a:prstGeom>
          <a:solidFill>
            <a:srgbClr val="C43D2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6" name="tx 26"/>
          <p:cNvSpPr txBox="1"/>
          <p:nvPr/>
        </p:nvSpPr>
        <p:spPr>
          <a:xfrm>
            <a:off x="731520" y="4325112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L3</a:t>
            </a:r>
          </a:p>
        </p:txBody>
      </p:sp>
      <p:sp>
        <p:nvSpPr>
          <p:cNvPr id="27" name="tx 27"/>
          <p:cNvSpPr txBox="1"/>
          <p:nvPr/>
        </p:nvSpPr>
        <p:spPr>
          <a:xfrm>
            <a:off x="1435608" y="425196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全量</a:t>
            </a:r>
          </a:p>
        </p:txBody>
      </p:sp>
      <p:sp>
        <p:nvSpPr>
          <p:cNvPr id="28" name="tx 28"/>
          <p:cNvSpPr txBox="1"/>
          <p:nvPr/>
        </p:nvSpPr>
        <p:spPr>
          <a:xfrm>
            <a:off x="1435608" y="454456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MQ 异步 / 并发消费 / 分布式一致性 / 新建核心表</a:t>
            </a:r>
          </a:p>
        </p:txBody>
      </p:sp>
      <p:sp>
        <p:nvSpPr>
          <p:cNvPr id="29" name="tx 29"/>
          <p:cNvSpPr txBox="1"/>
          <p:nvPr/>
        </p:nvSpPr>
        <p:spPr>
          <a:xfrm>
            <a:off x="5458968" y="4270248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五维度全跑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+ 第二人复核</a:t>
            </a:r>
          </a:p>
        </p:txBody>
      </p:sp>
      <p:sp>
        <p:nvSpPr>
          <p:cNvPr id="30" name="card 30"/>
          <p:cNvSpPr/>
          <p:nvPr/>
        </p:nvSpPr>
        <p:spPr>
          <a:xfrm>
            <a:off x="7360920" y="1600200"/>
            <a:ext cx="4251960" cy="3300984"/>
          </a:xfrm>
          <a:prstGeom prst="roundRect">
            <a:avLst>
              <a:gd name="adj" fmla="val 2770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1" name="tx 31"/>
          <p:cNvSpPr txBox="1"/>
          <p:nvPr/>
        </p:nvSpPr>
        <p:spPr>
          <a:xfrm>
            <a:off x="7662672" y="1847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门禁墙钟耗时（实测量级）</a:t>
            </a:r>
          </a:p>
        </p:txBody>
      </p:sp>
      <p:sp>
        <p:nvSpPr>
          <p:cNvPr id="32" name="tx 32"/>
          <p:cNvSpPr txBox="1"/>
          <p:nvPr/>
        </p:nvSpPr>
        <p:spPr>
          <a:xfrm>
            <a:off x="7662672" y="2350008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L1</a:t>
            </a:r>
          </a:p>
        </p:txBody>
      </p:sp>
      <p:sp>
        <p:nvSpPr>
          <p:cNvPr id="33" name="sp 33"/>
          <p:cNvSpPr/>
          <p:nvPr/>
        </p:nvSpPr>
        <p:spPr>
          <a:xfrm>
            <a:off x="8613648" y="2331720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E7ECF5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4" name="sp 34"/>
          <p:cNvSpPr/>
          <p:nvPr/>
        </p:nvSpPr>
        <p:spPr>
          <a:xfrm>
            <a:off x="8613648" y="2331720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5" name="tx 35"/>
          <p:cNvSpPr txBox="1"/>
          <p:nvPr/>
        </p:nvSpPr>
        <p:spPr>
          <a:xfrm>
            <a:off x="10351008" y="235000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2–4 分钟</a:t>
            </a:r>
          </a:p>
        </p:txBody>
      </p:sp>
      <p:sp>
        <p:nvSpPr>
          <p:cNvPr id="36" name="tx 36"/>
          <p:cNvSpPr txBox="1"/>
          <p:nvPr/>
        </p:nvSpPr>
        <p:spPr>
          <a:xfrm>
            <a:off x="7662672" y="2953512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L2</a:t>
            </a:r>
          </a:p>
        </p:txBody>
      </p:sp>
      <p:sp>
        <p:nvSpPr>
          <p:cNvPr id="37" name="sp 37"/>
          <p:cNvSpPr/>
          <p:nvPr/>
        </p:nvSpPr>
        <p:spPr>
          <a:xfrm>
            <a:off x="8613648" y="2935224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E7ECF5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8" name="sp 38"/>
          <p:cNvSpPr/>
          <p:nvPr/>
        </p:nvSpPr>
        <p:spPr>
          <a:xfrm>
            <a:off x="8613648" y="2935224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C77E1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9" name="tx 39"/>
          <p:cNvSpPr txBox="1"/>
          <p:nvPr/>
        </p:nvSpPr>
        <p:spPr>
          <a:xfrm>
            <a:off x="10351008" y="2953512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3–6 分钟</a:t>
            </a:r>
          </a:p>
        </p:txBody>
      </p:sp>
      <p:sp>
        <p:nvSpPr>
          <p:cNvPr id="40" name="tx 40"/>
          <p:cNvSpPr txBox="1"/>
          <p:nvPr/>
        </p:nvSpPr>
        <p:spPr>
          <a:xfrm>
            <a:off x="7662672" y="3557016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L3</a:t>
            </a:r>
          </a:p>
        </p:txBody>
      </p:sp>
      <p:sp>
        <p:nvSpPr>
          <p:cNvPr id="41" name="sp 41"/>
          <p:cNvSpPr/>
          <p:nvPr/>
        </p:nvSpPr>
        <p:spPr>
          <a:xfrm>
            <a:off x="8613648" y="3538728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E7ECF5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42" name="sp 42"/>
          <p:cNvSpPr/>
          <p:nvPr/>
        </p:nvSpPr>
        <p:spPr>
          <a:xfrm>
            <a:off x="8613648" y="3538728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C43D2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43" name="tx 43"/>
          <p:cNvSpPr txBox="1"/>
          <p:nvPr/>
        </p:nvSpPr>
        <p:spPr>
          <a:xfrm>
            <a:off x="10351008" y="355701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4–8 分钟</a:t>
            </a:r>
          </a:p>
        </p:txBody>
      </p:sp>
      <p:sp>
        <p:nvSpPr>
          <p:cNvPr id="44" name="tx 44"/>
          <p:cNvSpPr txBox="1"/>
          <p:nvPr/>
        </p:nvSpPr>
        <p:spPr>
          <a:xfrm>
            <a:off x="7662672" y="4160520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增量重走</a:t>
            </a:r>
          </a:p>
        </p:txBody>
      </p:sp>
      <p:sp>
        <p:nvSpPr>
          <p:cNvPr id="45" name="sp 45"/>
          <p:cNvSpPr/>
          <p:nvPr/>
        </p:nvSpPr>
        <p:spPr>
          <a:xfrm>
            <a:off x="8613648" y="4142232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E7ECF5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46" name="sp 46"/>
          <p:cNvSpPr/>
          <p:nvPr/>
        </p:nvSpPr>
        <p:spPr>
          <a:xfrm>
            <a:off x="8613648" y="4142232"/>
            <a:ext cx="617220" cy="219456"/>
          </a:xfrm>
          <a:prstGeom prst="roundRect">
            <a:avLst>
              <a:gd name="adj" fmla="val 20833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47" name="tx 47"/>
          <p:cNvSpPr txBox="1"/>
          <p:nvPr/>
        </p:nvSpPr>
        <p:spPr>
          <a:xfrm>
            <a:off x="10351008" y="416052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1–3 分钟</a:t>
            </a:r>
          </a:p>
        </p:txBody>
      </p:sp>
      <p:sp>
        <p:nvSpPr>
          <p:cNvPr id="48" name="tx 48"/>
          <p:cNvSpPr txBox="1"/>
          <p:nvPr/>
        </p:nvSpPr>
        <p:spPr>
          <a:xfrm>
            <a:off x="7662672" y="459028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五个 Agent 并行，墙钟接近最慢的那个，不是累加。</a:t>
            </a:r>
          </a:p>
        </p:txBody>
      </p:sp>
      <p:sp>
        <p:nvSpPr>
          <p:cNvPr id="49" name="card 49"/>
          <p:cNvSpPr/>
          <p:nvPr/>
        </p:nvSpPr>
        <p:spPr>
          <a:xfrm>
            <a:off x="566928" y="5138928"/>
            <a:ext cx="11055096" cy="777240"/>
          </a:xfrm>
          <a:prstGeom prst="roundRect">
            <a:avLst>
              <a:gd name="adj" fmla="val 11764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50" name="tx 50"/>
          <p:cNvSpPr txBox="1"/>
          <p:nvPr/>
        </p:nvSpPr>
        <p:spPr>
          <a:xfrm>
            <a:off x="914400" y="5376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判定口诀：拿不准就升一级</a:t>
            </a:r>
            <a:r>
              <a:rPr lang="zh-CN" altLang="en-US" sz="17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　—— 漏评审的代价，远高于多跑一个维度。</a:t>
            </a:r>
          </a:p>
        </p:txBody>
      </p:sp>
      <p:sp>
        <p:nvSpPr>
          <p:cNvPr id="51" name="tx 51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2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机制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五维度门禁：把「该问的」变成默认动作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机制 02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572768"/>
            <a:ext cx="2066544" cy="2395728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dot 7"/>
          <p:cNvSpPr/>
          <p:nvPr/>
        </p:nvSpPr>
        <p:spPr>
          <a:xfrm>
            <a:off x="768096" y="1792224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8" name="tx 8"/>
          <p:cNvSpPr txBox="1"/>
          <p:nvPr/>
        </p:nvSpPr>
        <p:spPr>
          <a:xfrm>
            <a:off x="768096" y="17922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01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768096" y="22860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架构</a:t>
            </a:r>
          </a:p>
        </p:txBody>
      </p:sp>
      <p:sp>
        <p:nvSpPr>
          <p:cNvPr id="10" name="tx 10"/>
          <p:cNvSpPr txBox="1"/>
          <p:nvPr/>
        </p:nvSpPr>
        <p:spPr>
          <a:xfrm>
            <a:off x="768096" y="2670048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边界划分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一致性真值源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可观测性埋点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兼容与回滚</a:t>
            </a:r>
          </a:p>
        </p:txBody>
      </p:sp>
      <p:sp>
        <p:nvSpPr>
          <p:cNvPr id="11" name="card 11"/>
          <p:cNvSpPr/>
          <p:nvPr/>
        </p:nvSpPr>
        <p:spPr>
          <a:xfrm>
            <a:off x="2807208" y="1572768"/>
            <a:ext cx="2066544" cy="2395728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12" name="dot 12"/>
          <p:cNvSpPr/>
          <p:nvPr/>
        </p:nvSpPr>
        <p:spPr>
          <a:xfrm>
            <a:off x="3008376" y="1792224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tx 13"/>
          <p:cNvSpPr txBox="1"/>
          <p:nvPr/>
        </p:nvSpPr>
        <p:spPr>
          <a:xfrm>
            <a:off x="3008376" y="17922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02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3008376" y="22860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并发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3008376" y="2670048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幂等设计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重复消费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竞态与时序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状态机流转</a:t>
            </a:r>
          </a:p>
        </p:txBody>
      </p:sp>
      <p:sp>
        <p:nvSpPr>
          <p:cNvPr id="16" name="card 16"/>
          <p:cNvSpPr/>
          <p:nvPr/>
        </p:nvSpPr>
        <p:spPr>
          <a:xfrm>
            <a:off x="5047488" y="1572768"/>
            <a:ext cx="2066544" cy="2395728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17" name="dot 17"/>
          <p:cNvSpPr/>
          <p:nvPr/>
        </p:nvSpPr>
        <p:spPr>
          <a:xfrm>
            <a:off x="5248656" y="1792224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8" name="tx 18"/>
          <p:cNvSpPr txBox="1"/>
          <p:nvPr/>
        </p:nvSpPr>
        <p:spPr>
          <a:xfrm>
            <a:off x="5248656" y="17922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03</a:t>
            </a:r>
          </a:p>
        </p:txBody>
      </p:sp>
      <p:sp>
        <p:nvSpPr>
          <p:cNvPr id="19" name="tx 19"/>
          <p:cNvSpPr txBox="1"/>
          <p:nvPr/>
        </p:nvSpPr>
        <p:spPr>
          <a:xfrm>
            <a:off x="5248656" y="22860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性能</a:t>
            </a:r>
          </a:p>
        </p:txBody>
      </p:sp>
      <p:sp>
        <p:nvSpPr>
          <p:cNvPr id="20" name="tx 20"/>
          <p:cNvSpPr txBox="1"/>
          <p:nvPr/>
        </p:nvSpPr>
        <p:spPr>
          <a:xfrm>
            <a:off x="5248656" y="2670048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数据量级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批量与分页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慢查询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连接与线程</a:t>
            </a:r>
          </a:p>
        </p:txBody>
      </p:sp>
      <p:sp>
        <p:nvSpPr>
          <p:cNvPr id="21" name="card 21"/>
          <p:cNvSpPr/>
          <p:nvPr/>
        </p:nvSpPr>
        <p:spPr>
          <a:xfrm>
            <a:off x="7287768" y="1572768"/>
            <a:ext cx="2066544" cy="2395728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22" name="dot 22"/>
          <p:cNvSpPr/>
          <p:nvPr/>
        </p:nvSpPr>
        <p:spPr>
          <a:xfrm>
            <a:off x="7488936" y="1792224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3" name="tx 23"/>
          <p:cNvSpPr txBox="1"/>
          <p:nvPr/>
        </p:nvSpPr>
        <p:spPr>
          <a:xfrm>
            <a:off x="7488936" y="17922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04</a:t>
            </a:r>
          </a:p>
        </p:txBody>
      </p:sp>
      <p:sp>
        <p:nvSpPr>
          <p:cNvPr id="24" name="tx 24"/>
          <p:cNvSpPr txBox="1"/>
          <p:nvPr/>
        </p:nvSpPr>
        <p:spPr>
          <a:xfrm>
            <a:off x="7488936" y="22860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数据库</a:t>
            </a:r>
          </a:p>
        </p:txBody>
      </p:sp>
      <p:sp>
        <p:nvSpPr>
          <p:cNvPr id="25" name="tx 25"/>
          <p:cNvSpPr txBox="1"/>
          <p:nvPr/>
        </p:nvSpPr>
        <p:spPr>
          <a:xfrm>
            <a:off x="7488936" y="2670048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索引与前导列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DDL 与迁移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租户隔离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数据回滚</a:t>
            </a:r>
          </a:p>
        </p:txBody>
      </p:sp>
      <p:sp>
        <p:nvSpPr>
          <p:cNvPr id="26" name="card 26"/>
          <p:cNvSpPr/>
          <p:nvPr/>
        </p:nvSpPr>
        <p:spPr>
          <a:xfrm>
            <a:off x="9528048" y="1572768"/>
            <a:ext cx="2066544" cy="2395728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27" name="dot 27"/>
          <p:cNvSpPr/>
          <p:nvPr/>
        </p:nvSpPr>
        <p:spPr>
          <a:xfrm>
            <a:off x="9729216" y="1792224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8" name="tx 28"/>
          <p:cNvSpPr txBox="1"/>
          <p:nvPr/>
        </p:nvSpPr>
        <p:spPr>
          <a:xfrm>
            <a:off x="9729216" y="17922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05</a:t>
            </a:r>
          </a:p>
        </p:txBody>
      </p:sp>
      <p:sp>
        <p:nvSpPr>
          <p:cNvPr id="29" name="tx 29"/>
          <p:cNvSpPr txBox="1"/>
          <p:nvPr/>
        </p:nvSpPr>
        <p:spPr>
          <a:xfrm>
            <a:off x="9729216" y="22860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安全</a:t>
            </a:r>
          </a:p>
        </p:txBody>
      </p:sp>
      <p:sp>
        <p:nvSpPr>
          <p:cNvPr id="30" name="tx 30"/>
          <p:cNvSpPr txBox="1"/>
          <p:nvPr/>
        </p:nvSpPr>
        <p:spPr>
          <a:xfrm>
            <a:off x="9729216" y="2670048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权限判定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越权与注入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敏感数据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上传与外网</a:t>
            </a:r>
          </a:p>
        </p:txBody>
      </p:sp>
      <p:sp>
        <p:nvSpPr>
          <p:cNvPr id="31" name="card 31"/>
          <p:cNvSpPr/>
          <p:nvPr/>
        </p:nvSpPr>
        <p:spPr>
          <a:xfrm>
            <a:off x="566928" y="4187952"/>
            <a:ext cx="11055096" cy="1481328"/>
          </a:xfrm>
          <a:prstGeom prst="roundRect">
            <a:avLst>
              <a:gd name="adj" fmla="val 6172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2" name="tx 32"/>
          <p:cNvSpPr txBox="1"/>
          <p:nvPr/>
        </p:nvSpPr>
        <p:spPr>
          <a:xfrm>
            <a:off x="914400" y="440740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回到开场那个例子 —— 你不需要想起来问并发。只要判定它是 L3，并发 Agent 就一定会跑。</a:t>
            </a:r>
          </a:p>
        </p:txBody>
      </p:sp>
      <p:sp>
        <p:nvSpPr>
          <p:cNvPr id="33" name="tx 33"/>
          <p:cNvSpPr txBox="1"/>
          <p:nvPr/>
        </p:nvSpPr>
        <p:spPr>
          <a:xfrm>
            <a:off x="914400" y="486460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从「我记得问」变成「系统一定会问」</a:t>
            </a:r>
          </a:p>
        </p:txBody>
      </p:sp>
      <p:sp>
        <p:nvSpPr>
          <p:cNvPr id="34" name="tx 34"/>
          <p:cNvSpPr txBox="1"/>
          <p:nvPr/>
        </p:nvSpPr>
        <p:spPr>
          <a:xfrm>
            <a:off x="566928" y="5870448"/>
            <a:ext cx="11055096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这治的是缺陷 01：覆盖度不再取决于提问者当天的状态。</a:t>
            </a:r>
          </a:p>
        </p:txBody>
      </p:sp>
      <p:sp>
        <p:nvSpPr>
          <p:cNvPr id="35" name="tx 35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2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机制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让评审结论说人话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机制 03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536192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859536" y="1536192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finding 七字段：　</a:t>
            </a:r>
            <a:r>
              <a:rPr lang="zh-CN" altLang="en-US" sz="13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ID ｜ 严重级别 ｜ 位置 ｜ 一句话白话 ｜ 触发场景 ｜ 不修的后果 ｜ 建议修复</a:t>
            </a:r>
          </a:p>
        </p:txBody>
      </p:sp>
      <p:sp>
        <p:nvSpPr>
          <p:cNvPr id="8" name="card 8"/>
          <p:cNvSpPr/>
          <p:nvPr/>
        </p:nvSpPr>
        <p:spPr>
          <a:xfrm>
            <a:off x="566928" y="2267712"/>
            <a:ext cx="5349240" cy="2395728"/>
          </a:xfrm>
          <a:prstGeom prst="roundRect">
            <a:avLst>
              <a:gd name="adj" fmla="val 3816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9" name="tx 9"/>
          <p:cNvSpPr txBox="1"/>
          <p:nvPr/>
        </p:nvSpPr>
        <p:spPr>
          <a:xfrm>
            <a:off x="841248" y="25054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5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✕  </a:t>
            </a:r>
            <a:r>
              <a:rPr lang="zh-CN" altLang="en-US" sz="145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术语版</a:t>
            </a:r>
          </a:p>
        </p:txBody>
      </p:sp>
      <p:sp>
        <p:nvSpPr>
          <p:cNvPr id="10" name="tx 10"/>
          <p:cNvSpPr txBox="1"/>
          <p:nvPr/>
        </p:nvSpPr>
        <p:spPr>
          <a:xfrm>
            <a:off x="841248" y="29260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「幂等键缺失导致 CAS 失效」</a:t>
            </a:r>
          </a:p>
        </p:txBody>
      </p:sp>
      <p:sp>
        <p:nvSpPr>
          <p:cNvPr id="11" name="tx 11"/>
          <p:cNvSpPr txBox="1"/>
          <p:nvPr/>
        </p:nvSpPr>
        <p:spPr>
          <a:xfrm>
            <a:off x="841248" y="3703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没参与设计的人，看不懂自己到底在签什么。</a:t>
            </a:r>
          </a:p>
        </p:txBody>
      </p:sp>
      <p:sp>
        <p:nvSpPr>
          <p:cNvPr id="12" name="card 12"/>
          <p:cNvSpPr/>
          <p:nvPr/>
        </p:nvSpPr>
        <p:spPr>
          <a:xfrm>
            <a:off x="6263640" y="2267712"/>
            <a:ext cx="5349240" cy="2395728"/>
          </a:xfrm>
          <a:prstGeom prst="roundRect">
            <a:avLst>
              <a:gd name="adj" fmla="val 3816"/>
            </a:avLst>
          </a:prstGeom>
          <a:solidFill>
            <a:srgbClr val="E9F3EE"/>
          </a:solidFill>
          <a:ln w="12700">
            <a:solidFill>
              <a:srgbClr val="CFE4D9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tx 13"/>
          <p:cNvSpPr txBox="1"/>
          <p:nvPr/>
        </p:nvSpPr>
        <p:spPr>
          <a:xfrm>
            <a:off x="6537960" y="25054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5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✓  </a:t>
            </a:r>
            <a:r>
              <a:rPr lang="zh-CN" altLang="en-US" sz="145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白话版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6537960" y="2871216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同一条消息被重复处理时，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联系人会被导入两次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6537960" y="374904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触发场景：</a:t>
            </a:r>
            <a:r>
              <a:rPr lang="zh-CN" altLang="en-US" sz="12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MQ 重投 / 消费者重启未提交 offset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不修的后果：</a:t>
            </a:r>
            <a:r>
              <a:rPr lang="zh-CN" altLang="en-US" sz="12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该租户联系人列表重复，需人工清理</a:t>
            </a:r>
          </a:p>
        </p:txBody>
      </p:sp>
      <p:sp>
        <p:nvSpPr>
          <p:cNvPr id="16" name="card 16"/>
          <p:cNvSpPr/>
          <p:nvPr/>
        </p:nvSpPr>
        <p:spPr>
          <a:xfrm>
            <a:off x="566928" y="4892040"/>
            <a:ext cx="11055096" cy="1207008"/>
          </a:xfrm>
          <a:prstGeom prst="roundRect">
            <a:avLst>
              <a:gd name="adj" fmla="val 7575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7" name="tx 17"/>
          <p:cNvSpPr txBox="1"/>
          <p:nvPr/>
        </p:nvSpPr>
        <p:spPr>
          <a:xfrm>
            <a:off x="914400" y="5074920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铁律</a:t>
            </a:r>
          </a:p>
        </p:txBody>
      </p:sp>
      <p:sp>
        <p:nvSpPr>
          <p:cNvPr id="18" name="tx 18"/>
          <p:cNvSpPr txBox="1"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写不出具体触发场景的 Blocker，一律降级为 Major</a:t>
            </a:r>
          </a:p>
        </p:txBody>
      </p:sp>
      <p:sp>
        <p:nvSpPr>
          <p:cNvPr id="19" name="tx 19"/>
          <p:cNvSpPr txBox="1"/>
          <p:nvPr/>
        </p:nvSpPr>
        <p:spPr>
          <a:xfrm>
            <a:off x="914400" y="5760720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一条规则同时治两个病：术语堆砌看不懂，以及 AI 误报把门禁卡死。</a:t>
            </a:r>
          </a:p>
        </p:txBody>
      </p:sp>
      <p:sp>
        <p:nvSpPr>
          <p:cNvPr id="20" name="tx 20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2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机制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条件必须落地，闭环必须留痕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机制 04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554480"/>
            <a:ext cx="5349240" cy="2084832"/>
          </a:xfrm>
          <a:prstGeom prst="roundRect">
            <a:avLst>
              <a:gd name="adj" fmla="val 4385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841248" y="179222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「有条件通过」≠「通过」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841248" y="2176272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每一条条件，必须映射到 tasks.md 的一个可勾选任务。</a:t>
            </a:r>
          </a:p>
        </p:txBody>
      </p:sp>
      <p:sp>
        <p:nvSpPr>
          <p:cNvPr id="9" name="card 9"/>
          <p:cNvSpPr/>
          <p:nvPr/>
        </p:nvSpPr>
        <p:spPr>
          <a:xfrm>
            <a:off x="841248" y="2743200"/>
            <a:ext cx="3200400" cy="365760"/>
          </a:xfrm>
          <a:prstGeom prst="roundRect">
            <a:avLst>
              <a:gd name="adj" fmla="val 15000"/>
            </a:avLst>
          </a:prstGeom>
          <a:solidFill>
            <a:srgbClr val="FBEDEA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0" name="tx 10"/>
          <p:cNvSpPr txBox="1"/>
          <p:nvPr/>
        </p:nvSpPr>
        <p:spPr>
          <a:xfrm>
            <a:off x="841248" y="2743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映射不到的条件 = 视同 Blocker</a:t>
            </a:r>
          </a:p>
        </p:txBody>
      </p:sp>
      <p:sp>
        <p:nvSpPr>
          <p:cNvPr id="11" name="tx 11"/>
          <p:cNvSpPr txBox="1"/>
          <p:nvPr/>
        </p:nvSpPr>
        <p:spPr>
          <a:xfrm>
            <a:off x="841248" y="32186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0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C-01 ｜ database ｜ 幂等键索引须 tenant_id 前导 ｜ T-03</a:t>
            </a:r>
          </a:p>
        </p:txBody>
      </p:sp>
      <p:sp>
        <p:nvSpPr>
          <p:cNvPr id="12" name="card 12"/>
          <p:cNvSpPr/>
          <p:nvPr/>
        </p:nvSpPr>
        <p:spPr>
          <a:xfrm>
            <a:off x="6263640" y="1554480"/>
            <a:ext cx="5349240" cy="2084832"/>
          </a:xfrm>
          <a:prstGeom prst="roundRect">
            <a:avLst>
              <a:gd name="adj" fmla="val 4385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tx 13"/>
          <p:cNvSpPr txBox="1"/>
          <p:nvPr/>
        </p:nvSpPr>
        <p:spPr>
          <a:xfrm>
            <a:off x="6565392" y="1773936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关键洞察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6565392" y="206654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第二轮评审的 Agent，是全新上下文。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6565392" y="2542032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它不知道 ARCH-01 上轮提过、这轮已经改了。没有留痕，它要么重新发现同一个问题，要么完全漏掉验证。</a:t>
            </a:r>
          </a:p>
        </p:txBody>
      </p:sp>
      <p:sp>
        <p:nvSpPr>
          <p:cNvPr id="16" name="card 16"/>
          <p:cNvSpPr/>
          <p:nvPr/>
        </p:nvSpPr>
        <p:spPr>
          <a:xfrm>
            <a:off x="566928" y="3822192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7" name="tx 17"/>
          <p:cNvSpPr txBox="1"/>
          <p:nvPr/>
        </p:nvSpPr>
        <p:spPr>
          <a:xfrm>
            <a:off x="859536" y="4041648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design.md 末尾固定区块 —— 评审意见闭环记录</a:t>
            </a:r>
          </a:p>
        </p:txBody>
      </p:sp>
      <p:sp>
        <p:nvSpPr>
          <p:cNvPr id="18" name="tx 18"/>
          <p:cNvSpPr txBox="1"/>
          <p:nvPr/>
        </p:nvSpPr>
        <p:spPr>
          <a:xfrm>
            <a:off x="859536" y="438912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ARCH-01 ｜ 架构 ｜ 计数真值源不明 ｜ 改为 DB 唯一真值源，缓存仅读加速 ｜ §3.2 ｜ R1</a:t>
            </a:r>
          </a:p>
          <a:p>
            <a:pPr marL="0" indent="0" algn="l">
              <a:lnSpc>
                <a:spcPct val="155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SEC-01 　｜ 安全 ｜ 导出未做公式注入转义 ｜ 驳回：risk accepted，仅内部管理员可见 ｜ — ｜ R1</a:t>
            </a:r>
          </a:p>
        </p:txBody>
      </p:sp>
      <p:sp>
        <p:nvSpPr>
          <p:cNvPr id="19" name="tx 19"/>
          <p:cNvSpPr txBox="1"/>
          <p:nvPr/>
        </p:nvSpPr>
        <p:spPr>
          <a:xfrm>
            <a:off x="566928" y="5349240"/>
            <a:ext cx="1105509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所以留痕不只是给人看的 —— 它是给下一轮 AI 的输入。</a:t>
            </a:r>
          </a:p>
        </p:txBody>
      </p:sp>
      <p:sp>
        <p:nvSpPr>
          <p:cNvPr id="20" name="tx 20"/>
          <p:cNvSpPr txBox="1"/>
          <p:nvPr/>
        </p:nvSpPr>
        <p:spPr>
          <a:xfrm>
            <a:off x="566928" y="5833872"/>
            <a:ext cx="11055096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这就是「用文件对抗上下文易失」，治的是缺陷 02。</a:t>
            </a:r>
          </a:p>
        </p:txBody>
      </p:sp>
      <p:sp>
        <p:nvSpPr>
          <p:cNvPr id="21" name="tx 21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822960" y="1161288"/>
            <a:ext cx="274320" cy="2743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822960" y="11612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41B47"/>
                </a:solidFill>
                <a:latin typeface="Courier New"/>
                <a:ea typeface="Courier New"/>
                <a:cs typeface="Courier New"/>
              </a:rPr>
              <a:t xml:space="preserve">2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1207008" y="1197864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机制</a:t>
            </a:r>
            <a:r>
              <a:rPr lang="zh-CN" altLang="en-US" sz="1250" b="1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　·　机制 05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822960" y="1536192"/>
            <a:ext cx="1060704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人工签字是硬门禁</a:t>
            </a:r>
          </a:p>
        </p:txBody>
      </p:sp>
      <p:sp>
        <p:nvSpPr>
          <p:cNvPr id="6" name="card 6"/>
          <p:cNvSpPr/>
          <p:nvPr/>
        </p:nvSpPr>
        <p:spPr>
          <a:xfrm>
            <a:off x="822960" y="2487168"/>
            <a:ext cx="5120640" cy="1417320"/>
          </a:xfrm>
          <a:prstGeom prst="roundRect">
            <a:avLst>
              <a:gd name="adj" fmla="val 6451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1097280" y="2761488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65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 xml:space="preserve">Technical Review Approved: 张三  2026-07-31</a:t>
            </a:r>
          </a:p>
          <a:p>
            <a:pPr marL="0" indent="0" algn="l">
              <a:lnSpc>
                <a:spcPct val="165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 xml:space="preserve">复核（L3 必填）: 李四  2026-07-31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6400800" y="248716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签字的含义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6400800" y="281635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700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不是「我认可 AI 的结论」</a:t>
            </a:r>
          </a:p>
        </p:txBody>
      </p:sp>
      <p:sp>
        <p:nvSpPr>
          <p:cNvPr id="10" name="tx 10"/>
          <p:cNvSpPr txBox="1"/>
          <p:nvPr/>
        </p:nvSpPr>
        <p:spPr>
          <a:xfrm>
            <a:off x="6400800" y="3200400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而是「我为这个方案进入实现负责」</a:t>
            </a:r>
          </a:p>
        </p:txBody>
      </p:sp>
      <p:sp>
        <p:nvSpPr>
          <p:cNvPr id="11" name="tx 11"/>
          <p:cNvSpPr txBox="1"/>
          <p:nvPr/>
        </p:nvSpPr>
        <p:spPr>
          <a:xfrm>
            <a:off x="6400800" y="367588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50" b="1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AI 评审是输入，不是免责声明。</a:t>
            </a:r>
          </a:p>
        </p:txBody>
      </p:sp>
      <p:sp>
        <p:nvSpPr>
          <p:cNvPr id="12" name="card 12"/>
          <p:cNvSpPr/>
          <p:nvPr/>
        </p:nvSpPr>
        <p:spPr>
          <a:xfrm>
            <a:off x="822960" y="4315968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tx 13"/>
          <p:cNvSpPr txBox="1"/>
          <p:nvPr/>
        </p:nvSpPr>
        <p:spPr>
          <a:xfrm>
            <a:off x="1078992" y="451713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 xml:space="preserve">L0 / L1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1078992" y="4809744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允许作者自签</a:t>
            </a:r>
          </a:p>
        </p:txBody>
      </p:sp>
      <p:sp>
        <p:nvSpPr>
          <p:cNvPr id="15" name="card 15"/>
          <p:cNvSpPr/>
          <p:nvPr/>
        </p:nvSpPr>
        <p:spPr>
          <a:xfrm>
            <a:off x="4507992" y="4315968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6" name="tx 16"/>
          <p:cNvSpPr txBox="1"/>
          <p:nvPr/>
        </p:nvSpPr>
        <p:spPr>
          <a:xfrm>
            <a:off x="4764024" y="451713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 xml:space="preserve">L2 / L3</a:t>
            </a:r>
          </a:p>
        </p:txBody>
      </p:sp>
      <p:sp>
        <p:nvSpPr>
          <p:cNvPr id="17" name="tx 17"/>
          <p:cNvSpPr txBox="1"/>
          <p:nvPr/>
        </p:nvSpPr>
        <p:spPr>
          <a:xfrm>
            <a:off x="4764024" y="4809744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不建议自签 —— 自己设计自己批准，门禁就退化成形式</a:t>
            </a:r>
          </a:p>
        </p:txBody>
      </p:sp>
      <p:sp>
        <p:nvSpPr>
          <p:cNvPr id="18" name="card 18"/>
          <p:cNvSpPr/>
          <p:nvPr/>
        </p:nvSpPr>
        <p:spPr>
          <a:xfrm>
            <a:off x="8193024" y="4315968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9" name="tx 19"/>
          <p:cNvSpPr txBox="1"/>
          <p:nvPr/>
        </p:nvSpPr>
        <p:spPr>
          <a:xfrm>
            <a:off x="8449056" y="451713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 xml:space="preserve">签字前</a:t>
            </a:r>
          </a:p>
        </p:txBody>
      </p:sp>
      <p:sp>
        <p:nvSpPr>
          <p:cNvPr id="20" name="tx 20"/>
          <p:cNvSpPr txBox="1"/>
          <p:nvPr/>
        </p:nvSpPr>
        <p:spPr>
          <a:xfrm>
            <a:off x="8449056" y="4809744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读完 summary ／ 确认 Blocker 闭环 ／ 确认条件进了 tasks</a:t>
            </a:r>
          </a:p>
        </p:txBody>
      </p:sp>
      <p:sp>
        <p:nvSpPr>
          <p:cNvPr id="21" name="tx 21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若团队普遍出现盲签，该调整的是分级规则（少跑但跑得更值），而不是继续走过场。</a:t>
            </a:r>
          </a:p>
        </p:txBody>
      </p:sp>
      <p:sp>
        <p:nvSpPr>
          <p:cNvPr id="22" name="tx 22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8A97C4"/>
                </a:solidFill>
                <a:latin typeface="Courier New"/>
                <a:ea typeface="Courier New"/>
                <a:cs typeface="Courier New"/>
              </a:rPr>
              <a:t xml:space="preserve"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3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对照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逐条对照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为什么更好</a:t>
            </a:r>
          </a:p>
        </p:txBody>
      </p:sp>
      <p:sp>
        <p:nvSpPr>
          <p:cNvPr id="6" name="sp 6"/>
          <p:cNvSpPr/>
          <p:nvPr/>
        </p:nvSpPr>
        <p:spPr>
          <a:xfrm>
            <a:off x="566928" y="1463040"/>
            <a:ext cx="11055096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795528" y="1463040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维度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3063240" y="1463040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一问一答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7498080" y="1463040"/>
            <a:ext cx="40233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工程化工作流</a:t>
            </a:r>
          </a:p>
        </p:txBody>
      </p:sp>
      <p:sp>
        <p:nvSpPr>
          <p:cNvPr id="10" name="sp 10"/>
          <p:cNvSpPr/>
          <p:nvPr/>
        </p:nvSpPr>
        <p:spPr>
          <a:xfrm>
            <a:off x="566928" y="1938528"/>
            <a:ext cx="11055096" cy="621792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1" name="tx 11"/>
          <p:cNvSpPr txBox="1"/>
          <p:nvPr/>
        </p:nvSpPr>
        <p:spPr>
          <a:xfrm>
            <a:off x="795528" y="1938528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覆盖度</a:t>
            </a:r>
          </a:p>
        </p:txBody>
      </p:sp>
      <p:sp>
        <p:nvSpPr>
          <p:cNvPr id="12" name="tx 12"/>
          <p:cNvSpPr txBox="1"/>
          <p:nvPr/>
        </p:nvSpPr>
        <p:spPr>
          <a:xfrm>
            <a:off x="3063240" y="1938528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取决于提问者当天想到什么</a:t>
            </a:r>
          </a:p>
        </p:txBody>
      </p:sp>
      <p:sp>
        <p:nvSpPr>
          <p:cNvPr id="13" name="tx 13"/>
          <p:cNvSpPr txBox="1"/>
          <p:nvPr/>
        </p:nvSpPr>
        <p:spPr>
          <a:xfrm>
            <a:off x="7498080" y="1938528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分级 + 五维度清单，系统一定会问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795528" y="2560320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共识载体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3063240" y="2560320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会话上下文，关掉就没了</a:t>
            </a:r>
          </a:p>
        </p:txBody>
      </p:sp>
      <p:sp>
        <p:nvSpPr>
          <p:cNvPr id="16" name="tx 16"/>
          <p:cNvSpPr txBox="1"/>
          <p:nvPr/>
        </p:nvSpPr>
        <p:spPr>
          <a:xfrm>
            <a:off x="7498080" y="256032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proposal / design / discussion-log 文件</a:t>
            </a:r>
          </a:p>
        </p:txBody>
      </p:sp>
      <p:sp>
        <p:nvSpPr>
          <p:cNvPr id="17" name="sp 17"/>
          <p:cNvSpPr/>
          <p:nvPr/>
        </p:nvSpPr>
        <p:spPr>
          <a:xfrm>
            <a:off x="566928" y="3182112"/>
            <a:ext cx="11055096" cy="621792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8" name="tx 18"/>
          <p:cNvSpPr txBox="1"/>
          <p:nvPr/>
        </p:nvSpPr>
        <p:spPr>
          <a:xfrm>
            <a:off x="795528" y="3182112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阶段关口</a:t>
            </a:r>
          </a:p>
        </p:txBody>
      </p:sp>
      <p:sp>
        <p:nvSpPr>
          <p:cNvPr id="19" name="tx 19"/>
          <p:cNvSpPr txBox="1"/>
          <p:nvPr/>
        </p:nvSpPr>
        <p:spPr>
          <a:xfrm>
            <a:off x="3063240" y="3182112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无，随时可以开始写代码</a:t>
            </a:r>
          </a:p>
        </p:txBody>
      </p:sp>
      <p:sp>
        <p:nvSpPr>
          <p:cNvPr id="20" name="tx 20"/>
          <p:cNvSpPr txBox="1"/>
          <p:nvPr/>
        </p:nvSpPr>
        <p:spPr>
          <a:xfrm>
            <a:off x="7498080" y="3182112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硬门禁：未签字禁止 apply</a:t>
            </a:r>
          </a:p>
        </p:txBody>
      </p:sp>
      <p:sp>
        <p:nvSpPr>
          <p:cNvPr id="21" name="tx 21"/>
          <p:cNvSpPr txBox="1"/>
          <p:nvPr/>
        </p:nvSpPr>
        <p:spPr>
          <a:xfrm>
            <a:off x="795528" y="3803904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并行度</a:t>
            </a:r>
          </a:p>
        </p:txBody>
      </p:sp>
      <p:sp>
        <p:nvSpPr>
          <p:cNvPr id="22" name="tx 22"/>
          <p:cNvSpPr txBox="1"/>
          <p:nvPr/>
        </p:nvSpPr>
        <p:spPr>
          <a:xfrm>
            <a:off x="3063240" y="3803904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串行对话，一次一个视角</a:t>
            </a:r>
          </a:p>
        </p:txBody>
      </p:sp>
      <p:sp>
        <p:nvSpPr>
          <p:cNvPr id="23" name="tx 23"/>
          <p:cNvSpPr txBox="1"/>
          <p:nvPr/>
        </p:nvSpPr>
        <p:spPr>
          <a:xfrm>
            <a:off x="7498080" y="3803904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五个 Agent 并行，墙钟 ≈ 最慢的那个</a:t>
            </a:r>
          </a:p>
        </p:txBody>
      </p:sp>
      <p:sp>
        <p:nvSpPr>
          <p:cNvPr id="24" name="sp 24"/>
          <p:cNvSpPr/>
          <p:nvPr/>
        </p:nvSpPr>
        <p:spPr>
          <a:xfrm>
            <a:off x="566928" y="4425696"/>
            <a:ext cx="11055096" cy="621792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5" name="tx 25"/>
          <p:cNvSpPr txBox="1"/>
          <p:nvPr/>
        </p:nvSpPr>
        <p:spPr>
          <a:xfrm>
            <a:off x="795528" y="4425696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可审计</a:t>
            </a:r>
          </a:p>
        </p:txBody>
      </p:sp>
      <p:sp>
        <p:nvSpPr>
          <p:cNvPr id="26" name="tx 26"/>
          <p:cNvSpPr txBox="1"/>
          <p:nvPr/>
        </p:nvSpPr>
        <p:spPr>
          <a:xfrm>
            <a:off x="3063240" y="4425696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无记录</a:t>
            </a:r>
          </a:p>
        </p:txBody>
      </p:sp>
      <p:sp>
        <p:nvSpPr>
          <p:cNvPr id="27" name="tx 27"/>
          <p:cNvSpPr txBox="1"/>
          <p:nvPr/>
        </p:nvSpPr>
        <p:spPr>
          <a:xfrm>
            <a:off x="7498080" y="4425696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签字 / 驳回 / risk accepted / 弃案全留痕</a:t>
            </a:r>
          </a:p>
        </p:txBody>
      </p:sp>
      <p:sp>
        <p:nvSpPr>
          <p:cNvPr id="28" name="tx 28"/>
          <p:cNvSpPr txBox="1"/>
          <p:nvPr/>
        </p:nvSpPr>
        <p:spPr>
          <a:xfrm>
            <a:off x="795528" y="5047488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可复制</a:t>
            </a:r>
          </a:p>
        </p:txBody>
      </p:sp>
      <p:sp>
        <p:nvSpPr>
          <p:cNvPr id="29" name="tx 29"/>
          <p:cNvSpPr txBox="1"/>
          <p:nvPr/>
        </p:nvSpPr>
        <p:spPr>
          <a:xfrm>
            <a:off x="3063240" y="5047488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封装在个人脑子里</a:t>
            </a:r>
          </a:p>
        </p:txBody>
      </p:sp>
      <p:sp>
        <p:nvSpPr>
          <p:cNvPr id="30" name="tx 30"/>
          <p:cNvSpPr txBox="1"/>
          <p:nvPr/>
        </p:nvSpPr>
        <p:spPr>
          <a:xfrm>
            <a:off x="7498080" y="5047488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封装在 SKILL.md，团队共享、跨 agent 复用</a:t>
            </a:r>
          </a:p>
        </p:txBody>
      </p:sp>
      <p:sp>
        <p:nvSpPr>
          <p:cNvPr id="31" name="sp 31"/>
          <p:cNvSpPr/>
          <p:nvPr/>
        </p:nvSpPr>
        <p:spPr>
          <a:xfrm>
            <a:off x="566928" y="5669280"/>
            <a:ext cx="11055096" cy="621792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2" name="tx 32"/>
          <p:cNvSpPr txBox="1"/>
          <p:nvPr/>
        </p:nvSpPr>
        <p:spPr>
          <a:xfrm>
            <a:off x="795528" y="5669280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失败模式</a:t>
            </a:r>
          </a:p>
        </p:txBody>
      </p:sp>
      <p:sp>
        <p:nvSpPr>
          <p:cNvPr id="33" name="tx 33"/>
          <p:cNvSpPr txBox="1"/>
          <p:nvPr/>
        </p:nvSpPr>
        <p:spPr>
          <a:xfrm>
            <a:off x="3063240" y="5669280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静默，三个月后线上暴露</a:t>
            </a:r>
          </a:p>
        </p:txBody>
      </p:sp>
      <p:sp>
        <p:nvSpPr>
          <p:cNvPr id="34" name="tx 34"/>
          <p:cNvSpPr txBox="1"/>
          <p:nvPr/>
        </p:nvSpPr>
        <p:spPr>
          <a:xfrm>
            <a:off x="7498080" y="566928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显式，门禁 BLOCKED 当场亮红灯</a:t>
            </a:r>
          </a:p>
        </p:txBody>
      </p:sp>
      <p:sp>
        <p:nvSpPr>
          <p:cNvPr id="35" name="tx 35"/>
          <p:cNvSpPr txBox="1"/>
          <p:nvPr/>
        </p:nvSpPr>
        <p:spPr>
          <a:xfrm>
            <a:off x="566928" y="640080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 xml:space="preserve">不逐行念 —— 挑「共识载体」「可审计」「失败模式」三行展开。</a:t>
            </a:r>
          </a:p>
        </p:txBody>
      </p:sp>
      <p:sp>
        <p:nvSpPr>
          <p:cNvPr id="36" name="tx 36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822960" y="1161288"/>
            <a:ext cx="274320" cy="2743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822960" y="11612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41B47"/>
                </a:solidFill>
                <a:latin typeface="Courier New"/>
                <a:ea typeface="Courier New"/>
                <a:cs typeface="Courier New"/>
              </a:rPr>
              <a:t xml:space="preserve">3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1207008" y="1197864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对照</a:t>
            </a:r>
            <a:r>
              <a:rPr lang="zh-CN" altLang="en-US" sz="1250" b="1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　·　核心命题 02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822960" y="1591056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两者不是「同一件事做得好一点」的关系</a:t>
            </a:r>
          </a:p>
        </p:txBody>
      </p:sp>
      <p:sp>
        <p:nvSpPr>
          <p:cNvPr id="6" name="tx 6"/>
          <p:cNvSpPr txBox="1"/>
          <p:nvPr/>
        </p:nvSpPr>
        <p:spPr>
          <a:xfrm>
            <a:off x="822960" y="22860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700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是两个不同的目标函数。</a:t>
            </a:r>
          </a:p>
        </p:txBody>
      </p:sp>
      <p:sp>
        <p:nvSpPr>
          <p:cNvPr id="7" name="card 7"/>
          <p:cNvSpPr/>
          <p:nvPr/>
        </p:nvSpPr>
        <p:spPr>
          <a:xfrm>
            <a:off x="822960" y="2761488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8" name="tx 8"/>
          <p:cNvSpPr txBox="1"/>
          <p:nvPr/>
        </p:nvSpPr>
        <p:spPr>
          <a:xfrm>
            <a:off x="1115568" y="2980944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一问一答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1115568" y="331012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优化的是：这一次回答的质量</a:t>
            </a:r>
          </a:p>
        </p:txBody>
      </p:sp>
      <p:sp>
        <p:nvSpPr>
          <p:cNvPr id="10" name="tx 10"/>
          <p:cNvSpPr txBox="1"/>
          <p:nvPr/>
        </p:nvSpPr>
        <p:spPr>
          <a:xfrm>
            <a:off x="1115568" y="3785616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产出物是一段文本</a:t>
            </a:r>
          </a:p>
        </p:txBody>
      </p:sp>
      <p:sp>
        <p:nvSpPr>
          <p:cNvPr id="11" name="card 11"/>
          <p:cNvSpPr/>
          <p:nvPr/>
        </p:nvSpPr>
        <p:spPr>
          <a:xfrm>
            <a:off x="6291072" y="2761488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26326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2" name="tx 12"/>
          <p:cNvSpPr txBox="1"/>
          <p:nvPr/>
        </p:nvSpPr>
        <p:spPr>
          <a:xfrm>
            <a:off x="6583680" y="2980944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工程化工作流</a:t>
            </a:r>
          </a:p>
        </p:txBody>
      </p:sp>
      <p:sp>
        <p:nvSpPr>
          <p:cNvPr id="13" name="tx 13"/>
          <p:cNvSpPr txBox="1"/>
          <p:nvPr/>
        </p:nvSpPr>
        <p:spPr>
          <a:xfrm>
            <a:off x="6583680" y="331012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优化的是：这个决策的可靠性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6583680" y="3785616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产出物是一条可追溯的决策链</a:t>
            </a:r>
          </a:p>
        </p:txBody>
      </p:sp>
      <p:sp>
        <p:nvSpPr>
          <p:cNvPr id="15" name="tx 15"/>
          <p:cNvSpPr txBox="1"/>
          <p:nvPr/>
        </p:nvSpPr>
        <p:spPr>
          <a:xfrm>
            <a:off x="822960" y="475488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随着模型越来越强，第一个目标会越来越不值钱 —— 因为它会自动变好。</a:t>
            </a:r>
          </a:p>
        </p:txBody>
      </p:sp>
      <p:sp>
        <p:nvSpPr>
          <p:cNvPr id="16" name="tx 16"/>
          <p:cNvSpPr txBox="1"/>
          <p:nvPr/>
        </p:nvSpPr>
        <p:spPr>
          <a:xfrm>
            <a:off x="822960" y="534924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第二个目标不会自动变好。它只能靠流程。</a:t>
            </a:r>
          </a:p>
        </p:txBody>
      </p:sp>
      <p:sp>
        <p:nvSpPr>
          <p:cNvPr id="17" name="tx 17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8A97C4"/>
                </a:solidFill>
                <a:latin typeface="Courier New"/>
                <a:ea typeface="Courier New"/>
                <a:cs typeface="Courier New"/>
              </a:rPr>
              <a:t xml:space="preserve"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3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对照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流程沉淀在 Markdown 里，不在某个厂商的产品里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额外收益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627632"/>
            <a:ext cx="3502152" cy="1810512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859536" y="173736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4000" b="1" dirty="0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 xml:space="preserve">30+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859536" y="2560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个 SKILL.md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859536" y="2871216"/>
            <a:ext cx="2926080" cy="5303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DDD 19 · OpenSpec 8 · 门禁增强 4</a:t>
            </a:r>
          </a:p>
        </p:txBody>
      </p:sp>
      <p:sp>
        <p:nvSpPr>
          <p:cNvPr id="10" name="card 10"/>
          <p:cNvSpPr/>
          <p:nvPr/>
        </p:nvSpPr>
        <p:spPr>
          <a:xfrm>
            <a:off x="4343400" y="1627632"/>
            <a:ext cx="3502152" cy="1810512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11" name="tx 11"/>
          <p:cNvSpPr txBox="1"/>
          <p:nvPr/>
        </p:nvSpPr>
        <p:spPr>
          <a:xfrm>
            <a:off x="4636008" y="173736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4000" b="1" dirty="0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 xml:space="preserve">5+</a:t>
            </a:r>
          </a:p>
        </p:txBody>
      </p:sp>
      <p:sp>
        <p:nvSpPr>
          <p:cNvPr id="12" name="tx 12"/>
          <p:cNvSpPr txBox="1"/>
          <p:nvPr/>
        </p:nvSpPr>
        <p:spPr>
          <a:xfrm>
            <a:off x="4636008" y="2560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个 agent 平台通用</a:t>
            </a:r>
          </a:p>
        </p:txBody>
      </p:sp>
      <p:sp>
        <p:nvSpPr>
          <p:cNvPr id="13" name="tx 13"/>
          <p:cNvSpPr txBox="1"/>
          <p:nvPr/>
        </p:nvSpPr>
        <p:spPr>
          <a:xfrm>
            <a:off x="4636008" y="2871216"/>
            <a:ext cx="2926080" cy="5303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Claude Code · Codex · Cursor · Gemini 等</a:t>
            </a:r>
          </a:p>
        </p:txBody>
      </p:sp>
      <p:sp>
        <p:nvSpPr>
          <p:cNvPr id="14" name="card 14"/>
          <p:cNvSpPr/>
          <p:nvPr/>
        </p:nvSpPr>
        <p:spPr>
          <a:xfrm>
            <a:off x="8119872" y="1627632"/>
            <a:ext cx="3502152" cy="1810512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15" name="tx 15"/>
          <p:cNvSpPr txBox="1"/>
          <p:nvPr/>
        </p:nvSpPr>
        <p:spPr>
          <a:xfrm>
            <a:off x="8412480" y="173736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4000" b="1" dirty="0">
                <a:solidFill>
                  <a:srgbClr val="2E7D5B"/>
                </a:solidFill>
                <a:latin typeface="Courier New"/>
                <a:ea typeface="Courier New"/>
                <a:cs typeface="Courier New"/>
              </a:rPr>
              <a:t xml:space="preserve">0</a:t>
            </a:r>
          </a:p>
        </p:txBody>
      </p:sp>
      <p:sp>
        <p:nvSpPr>
          <p:cNvPr id="16" name="tx 16"/>
          <p:cNvSpPr txBox="1"/>
          <p:nvPr/>
        </p:nvSpPr>
        <p:spPr>
          <a:xfrm>
            <a:off x="8412480" y="2560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行改动</a:t>
            </a:r>
          </a:p>
        </p:txBody>
      </p:sp>
      <p:sp>
        <p:nvSpPr>
          <p:cNvPr id="17" name="tx 17"/>
          <p:cNvSpPr txBox="1"/>
          <p:nvPr/>
        </p:nvSpPr>
        <p:spPr>
          <a:xfrm>
            <a:off x="8412480" y="2871216"/>
            <a:ext cx="2926080" cy="5303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换模型、换厂商，流程资产不作废</a:t>
            </a:r>
          </a:p>
        </p:txBody>
      </p:sp>
      <p:sp>
        <p:nvSpPr>
          <p:cNvPr id="18" name="card 18"/>
          <p:cNvSpPr/>
          <p:nvPr/>
        </p:nvSpPr>
        <p:spPr>
          <a:xfrm>
            <a:off x="566928" y="3639312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9" name="tx 19"/>
          <p:cNvSpPr txBox="1"/>
          <p:nvPr/>
        </p:nvSpPr>
        <p:spPr>
          <a:xfrm>
            <a:off x="859536" y="3639312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 xml:space="preserve">npx skills add ./ -g -a '*'</a:t>
            </a:r>
            <a:r>
              <a:rPr lang="zh-CN" altLang="en-US" sz="14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　—— 一条命令，装到本机检测到的全部 agent</a:t>
            </a:r>
          </a:p>
        </p:txBody>
      </p:sp>
      <p:sp>
        <p:nvSpPr>
          <p:cNvPr id="20" name="card 20"/>
          <p:cNvSpPr/>
          <p:nvPr/>
        </p:nvSpPr>
        <p:spPr>
          <a:xfrm>
            <a:off x="566928" y="4517136"/>
            <a:ext cx="11055096" cy="1417320"/>
          </a:xfrm>
          <a:prstGeom prst="roundRect">
            <a:avLst>
              <a:gd name="adj" fmla="val 6451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1" name="tx 21"/>
          <p:cNvSpPr txBox="1"/>
          <p:nvPr/>
        </p:nvSpPr>
        <p:spPr>
          <a:xfrm>
            <a:off x="914400" y="475488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能力会被模型迭代掉，流程不会。</a:t>
            </a:r>
          </a:p>
        </p:txBody>
      </p:sp>
      <p:sp>
        <p:nvSpPr>
          <p:cNvPr id="22" name="tx 22"/>
          <p:cNvSpPr txBox="1"/>
          <p:nvPr/>
        </p:nvSpPr>
        <p:spPr>
          <a:xfrm>
            <a:off x="914400" y="5340096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明年主力模型换一家，评审清单、建模方法、门禁规则，一行都不用改。</a:t>
            </a:r>
          </a:p>
        </p:txBody>
      </p:sp>
      <p:sp>
        <p:nvSpPr>
          <p:cNvPr id="23" name="tx 23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4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边界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它拦不住什么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坦白</a:t>
            </a:r>
          </a:p>
        </p:txBody>
      </p:sp>
      <p:sp>
        <p:nvSpPr>
          <p:cNvPr id="6" name="tx 6"/>
          <p:cNvSpPr txBox="1"/>
          <p:nvPr/>
        </p:nvSpPr>
        <p:spPr>
          <a:xfrm>
            <a:off x="566928" y="1481328"/>
            <a:ext cx="11055096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门禁是流程纪律工具，不是安全边界 —— 它拦得住「忘了」，拦不住「铁了心要绕」。</a:t>
            </a:r>
          </a:p>
        </p:txBody>
      </p:sp>
      <p:sp>
        <p:nvSpPr>
          <p:cNvPr id="7" name="tx 7"/>
          <p:cNvSpPr txBox="1"/>
          <p:nvPr/>
        </p:nvSpPr>
        <p:spPr>
          <a:xfrm>
            <a:off x="1252728" y="2011680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防线</a:t>
            </a:r>
          </a:p>
        </p:txBody>
      </p:sp>
      <p:sp>
        <p:nvSpPr>
          <p:cNvPr id="8" name="tx 8"/>
          <p:cNvSpPr txBox="1"/>
          <p:nvPr/>
        </p:nvSpPr>
        <p:spPr>
          <a:xfrm>
            <a:off x="6373368" y="2011680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拦不住什么</a:t>
            </a:r>
          </a:p>
        </p:txBody>
      </p:sp>
      <p:sp>
        <p:nvSpPr>
          <p:cNvPr id="9" name="card 9"/>
          <p:cNvSpPr/>
          <p:nvPr/>
        </p:nvSpPr>
        <p:spPr>
          <a:xfrm>
            <a:off x="566928" y="2304288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0" name="dot 10"/>
          <p:cNvSpPr/>
          <p:nvPr/>
        </p:nvSpPr>
        <p:spPr>
          <a:xfrm>
            <a:off x="768096" y="25146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1" name="tx 11"/>
          <p:cNvSpPr txBox="1"/>
          <p:nvPr/>
        </p:nvSpPr>
        <p:spPr>
          <a:xfrm>
            <a:off x="768096" y="2514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01</a:t>
            </a:r>
          </a:p>
        </p:txBody>
      </p:sp>
      <p:sp>
        <p:nvSpPr>
          <p:cNvPr id="12" name="tx 12"/>
          <p:cNvSpPr txBox="1"/>
          <p:nvPr/>
        </p:nvSpPr>
        <p:spPr>
          <a:xfrm>
            <a:off x="1280160" y="25786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PreToolUse hook 拦 Bash 的 openspec apply</a:t>
            </a:r>
          </a:p>
        </p:txBody>
      </p:sp>
      <p:sp>
        <p:nvSpPr>
          <p:cNvPr id="13" name="tx 13"/>
          <p:cNvSpPr txBox="1"/>
          <p:nvPr/>
        </p:nvSpPr>
        <p:spPr>
          <a:xfrm>
            <a:off x="6373368" y="25786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/opsx:apply 斜杠命令与 skill 调用</a:t>
            </a:r>
          </a:p>
        </p:txBody>
      </p:sp>
      <p:sp>
        <p:nvSpPr>
          <p:cNvPr id="14" name="card 14"/>
          <p:cNvSpPr/>
          <p:nvPr/>
        </p:nvSpPr>
        <p:spPr>
          <a:xfrm>
            <a:off x="566928" y="3182112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5" name="dot 15"/>
          <p:cNvSpPr/>
          <p:nvPr/>
        </p:nvSpPr>
        <p:spPr>
          <a:xfrm>
            <a:off x="768096" y="339242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6" name="tx 16"/>
          <p:cNvSpPr txBox="1"/>
          <p:nvPr/>
        </p:nvSpPr>
        <p:spPr>
          <a:xfrm>
            <a:off x="768096" y="33924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02</a:t>
            </a:r>
          </a:p>
        </p:txBody>
      </p:sp>
      <p:sp>
        <p:nvSpPr>
          <p:cNvPr id="17" name="tx 17"/>
          <p:cNvSpPr txBox="1"/>
          <p:nvPr/>
        </p:nvSpPr>
        <p:spPr>
          <a:xfrm>
            <a:off x="1280160" y="345643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apply skill / command 的前置校验</a:t>
            </a:r>
          </a:p>
        </p:txBody>
      </p:sp>
      <p:sp>
        <p:nvSpPr>
          <p:cNvPr id="18" name="tx 18"/>
          <p:cNvSpPr txBox="1"/>
          <p:nvPr/>
        </p:nvSpPr>
        <p:spPr>
          <a:xfrm>
            <a:off x="6373368" y="345643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提示词级约束，可被用户明确指令覆盖</a:t>
            </a:r>
          </a:p>
        </p:txBody>
      </p:sp>
      <p:sp>
        <p:nvSpPr>
          <p:cNvPr id="19" name="card 19"/>
          <p:cNvSpPr/>
          <p:nvPr/>
        </p:nvSpPr>
        <p:spPr>
          <a:xfrm>
            <a:off x="566928" y="4059936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0" name="dot 20"/>
          <p:cNvSpPr/>
          <p:nvPr/>
        </p:nvSpPr>
        <p:spPr>
          <a:xfrm>
            <a:off x="768096" y="427024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1" name="tx 21"/>
          <p:cNvSpPr txBox="1"/>
          <p:nvPr/>
        </p:nvSpPr>
        <p:spPr>
          <a:xfrm>
            <a:off x="768096" y="42702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03</a:t>
            </a:r>
          </a:p>
        </p:txBody>
      </p:sp>
      <p:sp>
        <p:nvSpPr>
          <p:cNvPr id="22" name="tx 22"/>
          <p:cNvSpPr txBox="1"/>
          <p:nvPr/>
        </p:nvSpPr>
        <p:spPr>
          <a:xfrm>
            <a:off x="1280160" y="433425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人工签字 + code review</a:t>
            </a:r>
          </a:p>
        </p:txBody>
      </p:sp>
      <p:sp>
        <p:nvSpPr>
          <p:cNvPr id="23" name="tx 23"/>
          <p:cNvSpPr txBox="1"/>
          <p:nvPr/>
        </p:nvSpPr>
        <p:spPr>
          <a:xfrm>
            <a:off x="6373368" y="433425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50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签字人不看就签</a:t>
            </a:r>
          </a:p>
        </p:txBody>
      </p:sp>
      <p:sp>
        <p:nvSpPr>
          <p:cNvPr id="24" name="card 24"/>
          <p:cNvSpPr/>
          <p:nvPr/>
        </p:nvSpPr>
        <p:spPr>
          <a:xfrm>
            <a:off x="566928" y="4956048"/>
            <a:ext cx="11055096" cy="804672"/>
          </a:xfrm>
          <a:prstGeom prst="roundRect">
            <a:avLst>
              <a:gd name="adj" fmla="val 11363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5" name="tx 25"/>
          <p:cNvSpPr txBox="1"/>
          <p:nvPr/>
        </p:nvSpPr>
        <p:spPr>
          <a:xfrm>
            <a:off x="914400" y="4956048"/>
            <a:ext cx="10332720" cy="8046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始终存在的绕过路径：直接让 Agent 用 Edit/Write 改代码 —— 三道防线全部看不见。</a:t>
            </a:r>
          </a:p>
        </p:txBody>
      </p:sp>
      <p:sp>
        <p:nvSpPr>
          <p:cNvPr id="26" name="tx 26"/>
          <p:cNvSpPr txBox="1"/>
          <p:nvPr/>
        </p:nvSpPr>
        <p:spPr>
          <a:xfrm>
            <a:off x="566928" y="5989320"/>
            <a:ext cx="11055096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真正的兜底仍然是 PR review 与 CI。门禁的价值，是让「评审」在正常路径上成为默认动作。</a:t>
            </a:r>
          </a:p>
        </p:txBody>
      </p:sp>
      <p:sp>
        <p:nvSpPr>
          <p:cNvPr id="27" name="tx 27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4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边界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什么时候该继续用一问一答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边界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60020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9F3EE"/>
          </a:solidFill>
          <a:ln w="12700">
            <a:solidFill>
              <a:srgbClr val="CFE4D9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tx 7"/>
          <p:cNvSpPr txBox="1"/>
          <p:nvPr/>
        </p:nvSpPr>
        <p:spPr>
          <a:xfrm>
            <a:off x="859536" y="1847088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✓  </a:t>
            </a:r>
            <a:r>
              <a:rPr lang="zh-CN" altLang="en-US" sz="160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该用一问一答</a:t>
            </a:r>
          </a:p>
        </p:txBody>
      </p:sp>
      <p:sp>
        <p:nvSpPr>
          <p:cNvPr id="8" name="dot 8"/>
          <p:cNvSpPr/>
          <p:nvPr/>
        </p:nvSpPr>
        <p:spPr>
          <a:xfrm>
            <a:off x="877824" y="2368296"/>
            <a:ext cx="182880" cy="18288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9" name="tx 9"/>
          <p:cNvSpPr txBox="1"/>
          <p:nvPr/>
        </p:nvSpPr>
        <p:spPr>
          <a:xfrm>
            <a:off x="1188720" y="233172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L0 改动：改文案、调配置、补注释</a:t>
            </a:r>
          </a:p>
        </p:txBody>
      </p:sp>
      <p:sp>
        <p:nvSpPr>
          <p:cNvPr id="10" name="dot 10"/>
          <p:cNvSpPr/>
          <p:nvPr/>
        </p:nvSpPr>
        <p:spPr>
          <a:xfrm>
            <a:off x="877824" y="2990088"/>
            <a:ext cx="182880" cy="18288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1" name="tx 11"/>
          <p:cNvSpPr txBox="1"/>
          <p:nvPr/>
        </p:nvSpPr>
        <p:spPr>
          <a:xfrm>
            <a:off x="1188720" y="295351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探索性提问：这个库怎么用、这段代码什么意思</a:t>
            </a:r>
          </a:p>
        </p:txBody>
      </p:sp>
      <p:sp>
        <p:nvSpPr>
          <p:cNvPr id="12" name="dot 12"/>
          <p:cNvSpPr/>
          <p:nvPr/>
        </p:nvSpPr>
        <p:spPr>
          <a:xfrm>
            <a:off x="877824" y="3611880"/>
            <a:ext cx="182880" cy="18288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3" name="tx 13"/>
          <p:cNvSpPr txBox="1"/>
          <p:nvPr/>
        </p:nvSpPr>
        <p:spPr>
          <a:xfrm>
            <a:off x="1188720" y="3575304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一次性脚本、临时排查</a:t>
            </a:r>
          </a:p>
        </p:txBody>
      </p:sp>
      <p:sp>
        <p:nvSpPr>
          <p:cNvPr id="14" name="tx 14"/>
          <p:cNvSpPr txBox="1"/>
          <p:nvPr/>
        </p:nvSpPr>
        <p:spPr>
          <a:xfrm>
            <a:off x="859536" y="41605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坦白讲，大部分时候我也是一问一答的。</a:t>
            </a:r>
          </a:p>
        </p:txBody>
      </p:sp>
      <p:sp>
        <p:nvSpPr>
          <p:cNvPr id="15" name="card 15"/>
          <p:cNvSpPr/>
          <p:nvPr/>
        </p:nvSpPr>
        <p:spPr>
          <a:xfrm>
            <a:off x="6263640" y="160020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BEDEA"/>
          </a:solidFill>
          <a:ln w="12700">
            <a:solidFill>
              <a:srgbClr val="F2D5CF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6" name="tx 16"/>
          <p:cNvSpPr txBox="1"/>
          <p:nvPr/>
        </p:nvSpPr>
        <p:spPr>
          <a:xfrm>
            <a:off x="6556248" y="1847088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✕  </a:t>
            </a:r>
            <a:r>
              <a:rPr lang="zh-CN" altLang="en-US" sz="16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硬套工作流的代价</a:t>
            </a:r>
          </a:p>
        </p:txBody>
      </p:sp>
      <p:sp>
        <p:nvSpPr>
          <p:cNvPr id="17" name="dot 17"/>
          <p:cNvSpPr/>
          <p:nvPr/>
        </p:nvSpPr>
        <p:spPr>
          <a:xfrm>
            <a:off x="6574536" y="2368296"/>
            <a:ext cx="182880" cy="182880"/>
          </a:xfrm>
          <a:prstGeom prst="ellipse">
            <a:avLst/>
          </a:prstGeom>
          <a:solidFill>
            <a:srgbClr val="C43D2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8" name="tx 18"/>
          <p:cNvSpPr txBox="1"/>
          <p:nvPr/>
        </p:nvSpPr>
        <p:spPr>
          <a:xfrm>
            <a:off x="6885432" y="233172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流程摩擦 大于 收益</a:t>
            </a:r>
          </a:p>
        </p:txBody>
      </p:sp>
      <p:sp>
        <p:nvSpPr>
          <p:cNvPr id="19" name="dot 19"/>
          <p:cNvSpPr/>
          <p:nvPr/>
        </p:nvSpPr>
        <p:spPr>
          <a:xfrm>
            <a:off x="6574536" y="2990088"/>
            <a:ext cx="182880" cy="182880"/>
          </a:xfrm>
          <a:prstGeom prst="ellipse">
            <a:avLst/>
          </a:prstGeom>
          <a:solidFill>
            <a:srgbClr val="C43D2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0" name="tx 20"/>
          <p:cNvSpPr txBox="1"/>
          <p:nvPr/>
        </p:nvSpPr>
        <p:spPr>
          <a:xfrm>
            <a:off x="6885432" y="295351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团队整体放弃整套流程</a:t>
            </a:r>
          </a:p>
        </p:txBody>
      </p:sp>
      <p:sp>
        <p:nvSpPr>
          <p:cNvPr id="21" name="dot 21"/>
          <p:cNvSpPr/>
          <p:nvPr/>
        </p:nvSpPr>
        <p:spPr>
          <a:xfrm>
            <a:off x="6574536" y="3611880"/>
            <a:ext cx="182880" cy="182880"/>
          </a:xfrm>
          <a:prstGeom prst="ellipse">
            <a:avLst/>
          </a:prstGeom>
          <a:solidFill>
            <a:srgbClr val="C43D2E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2" name="tx 22"/>
          <p:cNvSpPr txBox="1"/>
          <p:nvPr/>
        </p:nvSpPr>
        <p:spPr>
          <a:xfrm>
            <a:off x="6885432" y="3575304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145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比没有流程更糟</a:t>
            </a:r>
          </a:p>
        </p:txBody>
      </p:sp>
      <p:sp>
        <p:nvSpPr>
          <p:cNvPr id="23" name="tx 23"/>
          <p:cNvSpPr txBox="1"/>
          <p:nvPr/>
        </p:nvSpPr>
        <p:spPr>
          <a:xfrm>
            <a:off x="6556248" y="41605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C43D2E"/>
                </a:solidFill>
                <a:latin typeface="Microsoft YaHei"/>
                <a:ea typeface="Microsoft YaHei"/>
                <a:cs typeface="Microsoft YaHei"/>
              </a:rPr>
              <a:t xml:space="preserve">工作流不是取代对话，是在高风险变更上加一道结构。</a:t>
            </a:r>
          </a:p>
        </p:txBody>
      </p:sp>
      <p:sp>
        <p:nvSpPr>
          <p:cNvPr id="24" name="card 24"/>
          <p:cNvSpPr/>
          <p:nvPr/>
        </p:nvSpPr>
        <p:spPr>
          <a:xfrm>
            <a:off x="566928" y="4892040"/>
            <a:ext cx="11055096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5" name="tx 25"/>
          <p:cNvSpPr txBox="1"/>
          <p:nvPr/>
        </p:nvSpPr>
        <p:spPr>
          <a:xfrm>
            <a:off x="914400" y="5102352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50" b="1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判断标准</a:t>
            </a:r>
          </a:p>
        </p:txBody>
      </p:sp>
      <p:sp>
        <p:nvSpPr>
          <p:cNvPr id="26" name="tx 26"/>
          <p:cNvSpPr txBox="1"/>
          <p:nvPr/>
        </p:nvSpPr>
        <p:spPr>
          <a:xfrm>
            <a:off x="914400" y="541324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这个改动出事的代价，值不值得多花 5 分钟。</a:t>
            </a:r>
          </a:p>
        </p:txBody>
      </p:sp>
      <p:sp>
        <p:nvSpPr>
          <p:cNvPr id="27" name="tx 27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 2"/>
          <p:cNvSpPr/>
          <p:nvPr/>
        </p:nvSpPr>
        <p:spPr>
          <a:xfrm>
            <a:off x="566928" y="310896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" name="tx 3"/>
          <p:cNvSpPr txBox="1"/>
          <p:nvPr/>
        </p:nvSpPr>
        <p:spPr>
          <a:xfrm>
            <a:off x="566928" y="3108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4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950976" y="347472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5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边界</a:t>
            </a:r>
            <a:r>
              <a:rPr lang="zh-CN" altLang="en-US" sz="1150" b="1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　·　怎么开始 —— 分两档落地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566928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行动</a:t>
            </a:r>
          </a:p>
        </p:txBody>
      </p:sp>
      <p:sp>
        <p:nvSpPr>
          <p:cNvPr id="6" name="card 6"/>
          <p:cNvSpPr/>
          <p:nvPr/>
        </p:nvSpPr>
        <p:spPr>
          <a:xfrm>
            <a:off x="566928" y="1463040"/>
            <a:ext cx="5349240" cy="3639312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7" name="card 7"/>
          <p:cNvSpPr/>
          <p:nvPr/>
        </p:nvSpPr>
        <p:spPr>
          <a:xfrm>
            <a:off x="841248" y="1645920"/>
            <a:ext cx="859536" cy="329184"/>
          </a:xfrm>
          <a:prstGeom prst="roundRect">
            <a:avLst>
              <a:gd name="adj" fmla="val 19444"/>
            </a:avLst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8" name="tx 8"/>
          <p:cNvSpPr txBox="1"/>
          <p:nvPr/>
        </p:nvSpPr>
        <p:spPr>
          <a:xfrm>
            <a:off x="841248" y="1645920"/>
            <a:ext cx="8595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简易版</a:t>
            </a:r>
          </a:p>
        </p:txBody>
      </p:sp>
      <p:sp>
        <p:nvSpPr>
          <p:cNvPr id="9" name="tx 9"/>
          <p:cNvSpPr txBox="1"/>
          <p:nvPr/>
        </p:nvSpPr>
        <p:spPr>
          <a:xfrm>
            <a:off x="1828800" y="170992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只用 OpenSpec 基础闭环</a:t>
            </a:r>
          </a:p>
        </p:txBody>
      </p:sp>
      <p:sp>
        <p:nvSpPr>
          <p:cNvPr id="10" name="dot 10"/>
          <p:cNvSpPr/>
          <p:nvPr/>
        </p:nvSpPr>
        <p:spPr>
          <a:xfrm>
            <a:off x="841248" y="2185416"/>
            <a:ext cx="256032" cy="256032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1" name="tx 11"/>
          <p:cNvSpPr txBox="1"/>
          <p:nvPr/>
        </p:nvSpPr>
        <p:spPr>
          <a:xfrm>
            <a:off x="841248" y="218541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1</a:t>
            </a:r>
          </a:p>
        </p:txBody>
      </p:sp>
      <p:sp>
        <p:nvSpPr>
          <p:cNvPr id="12" name="tx 12"/>
          <p:cNvSpPr txBox="1"/>
          <p:nvPr/>
        </p:nvSpPr>
        <p:spPr>
          <a:xfrm>
            <a:off x="1225296" y="2176272"/>
            <a:ext cx="441655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2E7D5B"/>
                </a:solidFill>
                <a:latin typeface="Courier New"/>
                <a:ea typeface="Courier New"/>
                <a:cs typeface="Courier New"/>
              </a:rPr>
              <a:t xml:space="preserve">/opsx:explore</a:t>
            </a:r>
          </a:p>
        </p:txBody>
      </p:sp>
      <p:sp>
        <p:nvSpPr>
          <p:cNvPr id="13" name="tx 13"/>
          <p:cNvSpPr txBox="1"/>
          <p:nvPr/>
        </p:nvSpPr>
        <p:spPr>
          <a:xfrm>
            <a:off x="1225296" y="2450592"/>
            <a:ext cx="441655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把需求聊清楚，产出 proposal</a:t>
            </a:r>
          </a:p>
        </p:txBody>
      </p:sp>
      <p:sp>
        <p:nvSpPr>
          <p:cNvPr id="14" name="dot 14"/>
          <p:cNvSpPr/>
          <p:nvPr/>
        </p:nvSpPr>
        <p:spPr>
          <a:xfrm>
            <a:off x="841248" y="2788920"/>
            <a:ext cx="256032" cy="256032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5" name="tx 15"/>
          <p:cNvSpPr txBox="1"/>
          <p:nvPr/>
        </p:nvSpPr>
        <p:spPr>
          <a:xfrm>
            <a:off x="841248" y="27889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2</a:t>
            </a:r>
          </a:p>
        </p:txBody>
      </p:sp>
      <p:sp>
        <p:nvSpPr>
          <p:cNvPr id="16" name="tx 16"/>
          <p:cNvSpPr txBox="1"/>
          <p:nvPr/>
        </p:nvSpPr>
        <p:spPr>
          <a:xfrm>
            <a:off x="1225296" y="2779776"/>
            <a:ext cx="441655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2E7D5B"/>
                </a:solidFill>
                <a:latin typeface="Courier New"/>
                <a:ea typeface="Courier New"/>
                <a:cs typeface="Courier New"/>
              </a:rPr>
              <a:t xml:space="preserve">/opsx:propose</a:t>
            </a:r>
          </a:p>
        </p:txBody>
      </p:sp>
      <p:sp>
        <p:nvSpPr>
          <p:cNvPr id="17" name="tx 17"/>
          <p:cNvSpPr txBox="1"/>
          <p:nvPr/>
        </p:nvSpPr>
        <p:spPr>
          <a:xfrm>
            <a:off x="1225296" y="3054096"/>
            <a:ext cx="441655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写 design 与 tasks，人看一遍再动手</a:t>
            </a:r>
          </a:p>
        </p:txBody>
      </p:sp>
      <p:sp>
        <p:nvSpPr>
          <p:cNvPr id="18" name="dot 18"/>
          <p:cNvSpPr/>
          <p:nvPr/>
        </p:nvSpPr>
        <p:spPr>
          <a:xfrm>
            <a:off x="841248" y="3392424"/>
            <a:ext cx="256032" cy="256032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19" name="tx 19"/>
          <p:cNvSpPr txBox="1"/>
          <p:nvPr/>
        </p:nvSpPr>
        <p:spPr>
          <a:xfrm>
            <a:off x="841248" y="339242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3</a:t>
            </a:r>
          </a:p>
        </p:txBody>
      </p:sp>
      <p:sp>
        <p:nvSpPr>
          <p:cNvPr id="20" name="tx 20"/>
          <p:cNvSpPr txBox="1"/>
          <p:nvPr/>
        </p:nvSpPr>
        <p:spPr>
          <a:xfrm>
            <a:off x="1225296" y="3383280"/>
            <a:ext cx="441655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2E7D5B"/>
                </a:solidFill>
                <a:latin typeface="Courier New"/>
                <a:ea typeface="Courier New"/>
                <a:cs typeface="Courier New"/>
              </a:rPr>
              <a:t xml:space="preserve">/opsx:update</a:t>
            </a:r>
          </a:p>
        </p:txBody>
      </p:sp>
      <p:sp>
        <p:nvSpPr>
          <p:cNvPr id="21" name="tx 21"/>
          <p:cNvSpPr txBox="1"/>
          <p:nvPr/>
        </p:nvSpPr>
        <p:spPr>
          <a:xfrm>
            <a:off x="1225296" y="3657600"/>
            <a:ext cx="441655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需求或方案有变，回改提案而不是直接改代码</a:t>
            </a:r>
          </a:p>
        </p:txBody>
      </p:sp>
      <p:sp>
        <p:nvSpPr>
          <p:cNvPr id="22" name="dot 22"/>
          <p:cNvSpPr/>
          <p:nvPr/>
        </p:nvSpPr>
        <p:spPr>
          <a:xfrm>
            <a:off x="841248" y="3995928"/>
            <a:ext cx="256032" cy="256032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3" name="tx 23"/>
          <p:cNvSpPr txBox="1"/>
          <p:nvPr/>
        </p:nvSpPr>
        <p:spPr>
          <a:xfrm>
            <a:off x="841248" y="39959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4</a:t>
            </a:r>
          </a:p>
        </p:txBody>
      </p:sp>
      <p:sp>
        <p:nvSpPr>
          <p:cNvPr id="24" name="tx 24"/>
          <p:cNvSpPr txBox="1"/>
          <p:nvPr/>
        </p:nvSpPr>
        <p:spPr>
          <a:xfrm>
            <a:off x="1225296" y="3986784"/>
            <a:ext cx="441655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2E7D5B"/>
                </a:solidFill>
                <a:latin typeface="Courier New"/>
                <a:ea typeface="Courier New"/>
                <a:cs typeface="Courier New"/>
              </a:rPr>
              <a:t xml:space="preserve">/opsx:apply → archive</a:t>
            </a:r>
          </a:p>
        </p:txBody>
      </p:sp>
      <p:sp>
        <p:nvSpPr>
          <p:cNvPr id="25" name="tx 25"/>
          <p:cNvSpPr txBox="1"/>
          <p:nvPr/>
        </p:nvSpPr>
        <p:spPr>
          <a:xfrm>
            <a:off x="1225296" y="4261104"/>
            <a:ext cx="441655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按 tasks 实现，完成后归档沉淀</a:t>
            </a:r>
          </a:p>
        </p:txBody>
      </p:sp>
      <p:sp>
        <p:nvSpPr>
          <p:cNvPr id="26" name="card 26"/>
          <p:cNvSpPr/>
          <p:nvPr/>
        </p:nvSpPr>
        <p:spPr>
          <a:xfrm>
            <a:off x="804672" y="4572000"/>
            <a:ext cx="4873752" cy="457200"/>
          </a:xfrm>
          <a:prstGeom prst="roundRect">
            <a:avLst>
              <a:gd name="adj" fmla="val 14000"/>
            </a:avLst>
          </a:prstGeom>
          <a:solidFill>
            <a:srgbClr val="E9F3EE"/>
          </a:solidFill>
          <a:ln w="12700">
            <a:solidFill>
              <a:srgbClr val="CFE4D9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7" name="tx 27"/>
          <p:cNvSpPr txBox="1"/>
          <p:nvPr/>
        </p:nvSpPr>
        <p:spPr>
          <a:xfrm>
            <a:off x="1005840" y="4636008"/>
            <a:ext cx="4480560" cy="1737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装一个 skill 包就能跑，不需要团队达成任何共识。</a:t>
            </a:r>
          </a:p>
        </p:txBody>
      </p:sp>
      <p:sp>
        <p:nvSpPr>
          <p:cNvPr id="28" name="tx 28"/>
          <p:cNvSpPr txBox="1"/>
          <p:nvPr/>
        </p:nvSpPr>
        <p:spPr>
          <a:xfrm>
            <a:off x="1005840" y="4828032"/>
            <a:ext cx="4480560" cy="1737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 xml:space="preserve">拿到的：需求与方案落成文件，AI 不再猜。</a:t>
            </a:r>
          </a:p>
        </p:txBody>
      </p:sp>
      <p:sp>
        <p:nvSpPr>
          <p:cNvPr id="29" name="card 29"/>
          <p:cNvSpPr/>
          <p:nvPr/>
        </p:nvSpPr>
        <p:spPr>
          <a:xfrm>
            <a:off x="6263640" y="1463040"/>
            <a:ext cx="5349240" cy="3639312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 w="12700">
            <a:solidFill>
              <a:srgbClr val="E1E7F2"/>
            </a:solidFill>
          </a:ln>
          <a:effectLst>
            <a:outerShdw blurRad="152400" dist="38100" dir="5400000" algn="t" rotWithShape="0">
              <a:srgbClr val="1E2761">
                <a:alpha val="9000"/>
              </a:srgbClr>
            </a:outerShdw>
          </a:effectLst>
        </p:spPr>
        <p:txBody>
          <a:bodyPr rtlCol="0" anchor="ctr"/>
          <a:lstStyle/>
          <a:p>
            <a:endParaRPr lang="zh-CN"/>
          </a:p>
        </p:txBody>
      </p:sp>
      <p:sp>
        <p:nvSpPr>
          <p:cNvPr id="30" name="card 30"/>
          <p:cNvSpPr/>
          <p:nvPr/>
        </p:nvSpPr>
        <p:spPr>
          <a:xfrm>
            <a:off x="6537960" y="1645920"/>
            <a:ext cx="859536" cy="329184"/>
          </a:xfrm>
          <a:prstGeom prst="roundRect">
            <a:avLst>
              <a:gd name="adj" fmla="val 19444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1" name="tx 31"/>
          <p:cNvSpPr txBox="1"/>
          <p:nvPr/>
        </p:nvSpPr>
        <p:spPr>
          <a:xfrm>
            <a:off x="6537960" y="1645920"/>
            <a:ext cx="8595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完整版</a:t>
            </a:r>
          </a:p>
        </p:txBody>
      </p:sp>
      <p:sp>
        <p:nvSpPr>
          <p:cNvPr id="32" name="tx 32"/>
          <p:cNvSpPr txBox="1"/>
          <p:nvPr/>
        </p:nvSpPr>
        <p:spPr>
          <a:xfrm>
            <a:off x="7525512" y="170992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在简易版之上追加三步</a:t>
            </a:r>
          </a:p>
        </p:txBody>
      </p:sp>
      <p:sp>
        <p:nvSpPr>
          <p:cNvPr id="33" name="dot 33"/>
          <p:cNvSpPr/>
          <p:nvPr/>
        </p:nvSpPr>
        <p:spPr>
          <a:xfrm>
            <a:off x="6537960" y="2185416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4" name="tx 34"/>
          <p:cNvSpPr txBox="1"/>
          <p:nvPr/>
        </p:nvSpPr>
        <p:spPr>
          <a:xfrm>
            <a:off x="6537960" y="218541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5</a:t>
            </a:r>
          </a:p>
        </p:txBody>
      </p:sp>
      <p:sp>
        <p:nvSpPr>
          <p:cNvPr id="35" name="tx 35"/>
          <p:cNvSpPr txBox="1"/>
          <p:nvPr/>
        </p:nvSpPr>
        <p:spPr>
          <a:xfrm>
            <a:off x="6922008" y="2176272"/>
            <a:ext cx="441655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 xml:space="preserve">/opsx:overview</a:t>
            </a:r>
          </a:p>
        </p:txBody>
      </p:sp>
      <p:sp>
        <p:nvSpPr>
          <p:cNvPr id="36" name="tx 36"/>
          <p:cNvSpPr txBox="1"/>
          <p:nvPr/>
        </p:nvSpPr>
        <p:spPr>
          <a:xfrm>
            <a:off x="6922008" y="2450592"/>
            <a:ext cx="441655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分级判定 L0–L3，只有 L2 / L3 进门禁</a:t>
            </a:r>
          </a:p>
        </p:txBody>
      </p:sp>
      <p:sp>
        <p:nvSpPr>
          <p:cNvPr id="37" name="dot 37"/>
          <p:cNvSpPr/>
          <p:nvPr/>
        </p:nvSpPr>
        <p:spPr>
          <a:xfrm>
            <a:off x="6537960" y="278892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38" name="tx 38"/>
          <p:cNvSpPr txBox="1"/>
          <p:nvPr/>
        </p:nvSpPr>
        <p:spPr>
          <a:xfrm>
            <a:off x="6537960" y="27889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6</a:t>
            </a:r>
          </a:p>
        </p:txBody>
      </p:sp>
      <p:sp>
        <p:nvSpPr>
          <p:cNvPr id="39" name="tx 39"/>
          <p:cNvSpPr txBox="1"/>
          <p:nvPr/>
        </p:nvSpPr>
        <p:spPr>
          <a:xfrm>
            <a:off x="6922008" y="2779776"/>
            <a:ext cx="441655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 xml:space="preserve">/opsx:review</a:t>
            </a:r>
          </a:p>
        </p:txBody>
      </p:sp>
      <p:sp>
        <p:nvSpPr>
          <p:cNvPr id="40" name="tx 40"/>
          <p:cNvSpPr txBox="1"/>
          <p:nvPr/>
        </p:nvSpPr>
        <p:spPr>
          <a:xfrm>
            <a:off x="6922008" y="3054096"/>
            <a:ext cx="441655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五维度并行评审 → 汇总裁决 → 人工签字</a:t>
            </a:r>
          </a:p>
        </p:txBody>
      </p:sp>
      <p:sp>
        <p:nvSpPr>
          <p:cNvPr id="41" name="dot 41"/>
          <p:cNvSpPr/>
          <p:nvPr/>
        </p:nvSpPr>
        <p:spPr>
          <a:xfrm>
            <a:off x="6537960" y="3392424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42" name="tx 42"/>
          <p:cNvSpPr txBox="1"/>
          <p:nvPr/>
        </p:nvSpPr>
        <p:spPr>
          <a:xfrm>
            <a:off x="6537960" y="339242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 xml:space="preserve">7</a:t>
            </a:r>
          </a:p>
        </p:txBody>
      </p:sp>
      <p:sp>
        <p:nvSpPr>
          <p:cNvPr id="43" name="tx 43"/>
          <p:cNvSpPr txBox="1"/>
          <p:nvPr/>
        </p:nvSpPr>
        <p:spPr>
          <a:xfrm>
            <a:off x="6922008" y="3383280"/>
            <a:ext cx="441655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 xml:space="preserve">/opsx:quality → verify</a:t>
            </a:r>
          </a:p>
        </p:txBody>
      </p:sp>
      <p:sp>
        <p:nvSpPr>
          <p:cNvPr id="44" name="tx 44"/>
          <p:cNvSpPr txBox="1"/>
          <p:nvPr/>
        </p:nvSpPr>
        <p:spPr>
          <a:xfrm>
            <a:off x="6922008" y="3657600"/>
            <a:ext cx="441655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1B2436"/>
                </a:solidFill>
                <a:latin typeface="Microsoft YaHei"/>
                <a:ea typeface="Microsoft YaHei"/>
                <a:cs typeface="Microsoft YaHei"/>
              </a:rPr>
              <a:t xml:space="preserve">diff 层质量检测 + 条件核对验收</a:t>
            </a:r>
          </a:p>
        </p:txBody>
      </p:sp>
      <p:sp>
        <p:nvSpPr>
          <p:cNvPr id="45" name="dot 45"/>
          <p:cNvSpPr/>
          <p:nvPr/>
        </p:nvSpPr>
        <p:spPr>
          <a:xfrm>
            <a:off x="6537960" y="3995928"/>
            <a:ext cx="256032" cy="256032"/>
          </a:xfrm>
          <a:prstGeom prst="ellipse">
            <a:avLst/>
          </a:prstGeom>
          <a:solidFill>
            <a:srgbClr val="C3CBDA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46" name="tx 46"/>
          <p:cNvSpPr txBox="1"/>
          <p:nvPr/>
        </p:nvSpPr>
        <p:spPr>
          <a:xfrm>
            <a:off x="6537960" y="39959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↺</a:t>
            </a:r>
          </a:p>
        </p:txBody>
      </p:sp>
      <p:sp>
        <p:nvSpPr>
          <p:cNvPr id="47" name="tx 47"/>
          <p:cNvSpPr txBox="1"/>
          <p:nvPr/>
        </p:nvSpPr>
        <p:spPr>
          <a:xfrm>
            <a:off x="6922008" y="4005072"/>
            <a:ext cx="4416552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15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update 之后按牵连关系重走对应维度，并留闭环记录</a:t>
            </a:r>
          </a:p>
        </p:txBody>
      </p:sp>
      <p:sp>
        <p:nvSpPr>
          <p:cNvPr id="48" name="card 48"/>
          <p:cNvSpPr/>
          <p:nvPr/>
        </p:nvSpPr>
        <p:spPr>
          <a:xfrm>
            <a:off x="6501384" y="4572000"/>
            <a:ext cx="4873752" cy="457200"/>
          </a:xfrm>
          <a:prstGeom prst="roundRect">
            <a:avLst>
              <a:gd name="adj" fmla="val 14000"/>
            </a:avLst>
          </a:prstGeom>
          <a:solidFill>
            <a:srgbClr val="F3F6FB"/>
          </a:solidFill>
          <a:ln w="12700">
            <a:solidFill>
              <a:srgbClr val="E1E7F2"/>
            </a:solidFill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49" name="tx 49"/>
          <p:cNvSpPr txBox="1"/>
          <p:nvPr/>
        </p:nvSpPr>
        <p:spPr>
          <a:xfrm>
            <a:off x="6702552" y="4636008"/>
            <a:ext cx="4480560" cy="1737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L2 / L3 才跑，一次 4–8 分钟；需先约定分级与签字责任。</a:t>
            </a:r>
          </a:p>
        </p:txBody>
      </p:sp>
      <p:sp>
        <p:nvSpPr>
          <p:cNvPr id="50" name="tx 50"/>
          <p:cNvSpPr txBox="1"/>
          <p:nvPr/>
        </p:nvSpPr>
        <p:spPr>
          <a:xfrm>
            <a:off x="6702552" y="4828032"/>
            <a:ext cx="4480560" cy="1737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E2761"/>
                </a:solidFill>
                <a:latin typeface="Microsoft YaHei"/>
                <a:ea typeface="Microsoft YaHei"/>
                <a:cs typeface="Microsoft YaHei"/>
              </a:rPr>
              <a:t xml:space="preserve">拿到的：该问的问题变成默认动作，决策可审计。</a:t>
            </a:r>
          </a:p>
        </p:txBody>
      </p:sp>
      <p:sp>
        <p:nvSpPr>
          <p:cNvPr id="51" name="tx 51"/>
          <p:cNvSpPr txBox="1"/>
          <p:nvPr/>
        </p:nvSpPr>
        <p:spPr>
          <a:xfrm>
            <a:off x="5916168" y="1463040"/>
            <a:ext cx="347472" cy="3639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700" dirty="0">
                <a:solidFill>
                  <a:srgbClr val="6B7794"/>
                </a:solidFill>
                <a:latin typeface="Microsoft YaHei"/>
                <a:ea typeface="Microsoft YaHei"/>
                <a:cs typeface="Microsoft YaHei"/>
              </a:rPr>
              <a:t xml:space="preserve">＋</a:t>
            </a:r>
          </a:p>
        </p:txBody>
      </p:sp>
      <p:sp>
        <p:nvSpPr>
          <p:cNvPr id="52" name="card 52"/>
          <p:cNvSpPr/>
          <p:nvPr/>
        </p:nvSpPr>
        <p:spPr>
          <a:xfrm>
            <a:off x="566928" y="5212080"/>
            <a:ext cx="11055096" cy="950976"/>
          </a:xfrm>
          <a:prstGeom prst="roundRect">
            <a:avLst>
              <a:gd name="adj" fmla="val 9615"/>
            </a:avLst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53" name="tx 53"/>
          <p:cNvSpPr txBox="1"/>
          <p:nvPr/>
        </p:nvSpPr>
        <p:spPr>
          <a:xfrm>
            <a:off x="914400" y="5358384"/>
            <a:ext cx="1033272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50" b="1" dirty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 xml:space="preserve">如果今天只带走一件事</a:t>
            </a:r>
          </a:p>
        </p:txBody>
      </p:sp>
      <p:sp>
        <p:nvSpPr>
          <p:cNvPr id="54" name="tx 54"/>
          <p:cNvSpPr txBox="1"/>
          <p:nvPr/>
        </p:nvSpPr>
        <p:spPr>
          <a:xfrm>
            <a:off x="914400" y="5614416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先跑简易版 —— 在让 AI 动手之前，把需求和方案落成文件。</a:t>
            </a:r>
          </a:p>
        </p:txBody>
      </p:sp>
      <p:sp>
        <p:nvSpPr>
          <p:cNvPr id="55" name="tx 55"/>
          <p:cNvSpPr txBox="1"/>
          <p:nvPr/>
        </p:nvSpPr>
        <p:spPr>
          <a:xfrm>
            <a:off x="566928" y="6291072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rgbClr val="6B7794"/>
                </a:solidFill>
                <a:latin typeface="Courier New"/>
                <a:ea typeface="Courier New"/>
                <a:cs typeface="Courier New"/>
              </a:rPr>
              <a:t xml:space="preserve">repo: agent-skills　·　流程文档: workflow/OpenSpec-AI-研发流程.md</a:t>
            </a:r>
          </a:p>
        </p:txBody>
      </p:sp>
      <p:sp>
        <p:nvSpPr>
          <p:cNvPr id="56" name="tx 56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A8B2C6"/>
                </a:solidFill>
                <a:latin typeface="Courier New"/>
                <a:ea typeface="Courier New"/>
                <a:cs typeface="Courier New"/>
              </a:rPr>
              <a:t xml:space="preserve"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 2"/>
          <p:cNvSpPr txBox="1"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600" dirty="0">
                <a:solidFill>
                  <a:srgbClr val="8A97C4"/>
                </a:solidFill>
                <a:latin typeface="Microsoft YaHei"/>
                <a:ea typeface="Microsoft YaHei"/>
                <a:cs typeface="Microsoft YaHei"/>
              </a:rPr>
              <a:t xml:space="preserve">AI 让「把事做完」变得很便宜</a:t>
            </a:r>
          </a:p>
        </p:txBody>
      </p:sp>
      <p:sp>
        <p:nvSpPr>
          <p:cNvPr id="3" name="tx 3"/>
          <p:cNvSpPr txBox="1"/>
          <p:nvPr/>
        </p:nvSpPr>
        <p:spPr>
          <a:xfrm>
            <a:off x="1280160" y="26974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它没有让「把事做对」变便宜</a:t>
            </a:r>
          </a:p>
        </p:txBody>
      </p:sp>
      <p:sp>
        <p:nvSpPr>
          <p:cNvPr id="4" name="tx 4"/>
          <p:cNvSpPr txBox="1"/>
          <p:nvPr/>
        </p:nvSpPr>
        <p:spPr>
          <a:xfrm>
            <a:off x="1280160" y="358444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000" b="1" dirty="0">
                <a:solidFill>
                  <a:srgbClr val="F0B429"/>
                </a:solidFill>
                <a:latin typeface="Microsoft YaHei"/>
                <a:ea typeface="Microsoft YaHei"/>
                <a:cs typeface="Microsoft YaHei"/>
              </a:rPr>
              <a:t xml:space="preserve">后者仍然需要流程</a:t>
            </a:r>
          </a:p>
        </p:txBody>
      </p:sp>
      <p:sp>
        <p:nvSpPr>
          <p:cNvPr id="5" name="tx 5"/>
          <p:cNvSpPr txBox="1"/>
          <p:nvPr/>
        </p:nvSpPr>
        <p:spPr>
          <a:xfrm>
            <a:off x="1280160" y="48920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谢谢</a:t>
            </a:r>
          </a:p>
        </p:txBody>
      </p:sp>
      <p:sp>
        <p:nvSpPr>
          <p:cNvPr id="6" name="tx 6"/>
          <p:cNvSpPr txBox="1"/>
          <p:nvPr/>
        </p:nvSpPr>
        <p:spPr>
          <a:xfrm>
            <a:off x="1280160" y="53949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97C4"/>
                </a:solidFill>
                <a:latin typeface="Courier New"/>
                <a:ea typeface="Courier New"/>
                <a:cs typeface="Courier New"/>
              </a:rPr>
              <a:t xml:space="preserve">Q &amp; A</a:t>
            </a:r>
          </a:p>
        </p:txBody>
      </p:sp>
      <p:sp>
        <p:nvSpPr>
          <p:cNvPr id="7" name="tx 7"/>
          <p:cNvSpPr txBox="1"/>
          <p:nvPr/>
        </p:nvSpPr>
        <p:spPr>
          <a:xfrm>
            <a:off x="11274552" y="63825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000" dirty="0">
                <a:solidFill>
                  <a:srgbClr val="8A97C4"/>
                </a:solidFill>
                <a:latin typeface="Courier New"/>
                <a:ea typeface="Courier New"/>
                <a:cs typeface="Courier New"/>
              </a:rPr>
              <a:t xml:space="preserve"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">
  <a:themeElements>
    <a:clrScheme name="Deck">
      <a:dk1>
        <a:sysClr val="windowText" lastClr="000000"/>
      </a:dk1>
      <a:lt1>
        <a:sysClr val="window" lastClr="FFFFFF"/>
      </a:lt1>
      <a:dk2>
        <a:srgbClr val="1E2761"/>
      </a:dk2>
      <a:lt2>
        <a:srgbClr val="F7F9FC"/>
      </a:lt2>
      <a:accent1>
        <a:srgbClr val="1E2761"/>
      </a:accent1>
      <a:accent2>
        <a:srgbClr val="CADCFC"/>
      </a:accent2>
      <a:accent3>
        <a:srgbClr val="C43D2E"/>
      </a:accent3>
      <a:accent4>
        <a:srgbClr val="2E7D5B"/>
      </a:accent4>
      <a:accent5>
        <a:srgbClr val="D98324"/>
      </a:accent5>
      <a:accent6>
        <a:srgbClr val="6B7794"/>
      </a:accent6>
      <a:hlink>
        <a:srgbClr val="1E2761"/>
      </a:hlink>
      <a:folHlink>
        <a:srgbClr val="6B7794"/>
      </a:folHlink>
    </a:clrScheme>
    <a:fontScheme name="Deck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ck Notes">
  <a:themeElements>
    <a:clrScheme name="Deck Notes">
      <a:dk1>
        <a:sysClr val="windowText" lastClr="000000"/>
      </a:dk1>
      <a:lt1>
        <a:sysClr val="window" lastClr="FFFFFF"/>
      </a:lt1>
      <a:dk2>
        <a:srgbClr val="1E2761"/>
      </a:dk2>
      <a:lt2>
        <a:srgbClr val="F7F9FC"/>
      </a:lt2>
      <a:accent1>
        <a:srgbClr val="1E2761"/>
      </a:accent1>
      <a:accent2>
        <a:srgbClr val="CADCFC"/>
      </a:accent2>
      <a:accent3>
        <a:srgbClr val="C43D2E"/>
      </a:accent3>
      <a:accent4>
        <a:srgbClr val="2E7D5B"/>
      </a:accent4>
      <a:accent5>
        <a:srgbClr val="D98324"/>
      </a:accent5>
      <a:accent6>
        <a:srgbClr val="6B7794"/>
      </a:accent6>
      <a:hlink>
        <a:srgbClr val="1E2761"/>
      </a:hlink>
      <a:folHlink>
        <a:srgbClr val="6B7794"/>
      </a:folHlink>
    </a:clrScheme>
    <a:fontScheme name="Deck Notes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Deck Not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24</Slides>
  <Notes>24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</dc:title>
  <dc:creator>agent-skills</dc:creator>
  <cp:lastModifiedBy>agent-skills</cp:lastModifiedBy>
  <cp:revision>1</cp:revision>
  <dcterms:created xsi:type="dcterms:W3CDTF">2026-08-06T00:00:00Z</dcterms:created>
  <dcterms:modified xsi:type="dcterms:W3CDTF">2026-08-06T00:00:00Z</dcterms:modified>
</cp:coreProperties>
</file>